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603FFB-B5FC-4D53-8D85-C98BB64BBC3D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BC4100-F2DD-4D17-BCEA-44398DAB70CA}">
      <dgm:prSet/>
      <dgm:spPr/>
      <dgm:t>
        <a:bodyPr/>
        <a:lstStyle/>
        <a:p>
          <a:r>
            <a:rPr lang="es-ES"/>
            <a:t>Existen miles de revistas científicas</a:t>
          </a:r>
          <a:endParaRPr lang="en-US"/>
        </a:p>
      </dgm:t>
    </dgm:pt>
    <dgm:pt modelId="{90EE7CB1-3E0A-40A0-BED6-2EAB524A7455}" type="parTrans" cxnId="{8CB24FA2-EA44-4914-B95F-ED8DB3920F4C}">
      <dgm:prSet/>
      <dgm:spPr/>
      <dgm:t>
        <a:bodyPr/>
        <a:lstStyle/>
        <a:p>
          <a:endParaRPr lang="en-US"/>
        </a:p>
      </dgm:t>
    </dgm:pt>
    <dgm:pt modelId="{388FF446-1003-45EF-BD69-1DA994D910CC}" type="sibTrans" cxnId="{8CB24FA2-EA44-4914-B95F-ED8DB3920F4C}">
      <dgm:prSet/>
      <dgm:spPr/>
      <dgm:t>
        <a:bodyPr/>
        <a:lstStyle/>
        <a:p>
          <a:endParaRPr lang="en-US"/>
        </a:p>
      </dgm:t>
    </dgm:pt>
    <dgm:pt modelId="{EC20035D-D532-4C66-A6A2-E749E59B9D6F}">
      <dgm:prSet/>
      <dgm:spPr/>
      <dgm:t>
        <a:bodyPr/>
        <a:lstStyle/>
        <a:p>
          <a:r>
            <a:rPr lang="es-ES"/>
            <a:t>En un mismo campo → decenas de opciones</a:t>
          </a:r>
          <a:endParaRPr lang="en-US"/>
        </a:p>
      </dgm:t>
    </dgm:pt>
    <dgm:pt modelId="{7418A57A-5C74-41A2-A4D7-6CFC875D92E7}" type="parTrans" cxnId="{B4405347-2F15-4913-B469-C43290EBC53F}">
      <dgm:prSet/>
      <dgm:spPr/>
      <dgm:t>
        <a:bodyPr/>
        <a:lstStyle/>
        <a:p>
          <a:endParaRPr lang="en-US"/>
        </a:p>
      </dgm:t>
    </dgm:pt>
    <dgm:pt modelId="{A676A14E-31C3-4F21-9ADC-2B9CDA92AA3C}" type="sibTrans" cxnId="{B4405347-2F15-4913-B469-C43290EBC53F}">
      <dgm:prSet/>
      <dgm:spPr/>
      <dgm:t>
        <a:bodyPr/>
        <a:lstStyle/>
        <a:p>
          <a:endParaRPr lang="en-US"/>
        </a:p>
      </dgm:t>
    </dgm:pt>
    <dgm:pt modelId="{9A29073D-3717-4CD8-8AC4-D1790FB3B121}">
      <dgm:prSet/>
      <dgm:spPr/>
      <dgm:t>
        <a:bodyPr/>
        <a:lstStyle/>
        <a:p>
          <a:r>
            <a:rPr lang="es-ES"/>
            <a:t>Elegir revista correcta:</a:t>
          </a:r>
          <a:endParaRPr lang="en-US"/>
        </a:p>
      </dgm:t>
    </dgm:pt>
    <dgm:pt modelId="{4A155949-526E-4E00-8F0A-9C10EA978DB5}" type="parTrans" cxnId="{63A2A49E-0D21-46F1-B806-44749A8B1E72}">
      <dgm:prSet/>
      <dgm:spPr/>
      <dgm:t>
        <a:bodyPr/>
        <a:lstStyle/>
        <a:p>
          <a:endParaRPr lang="en-US"/>
        </a:p>
      </dgm:t>
    </dgm:pt>
    <dgm:pt modelId="{1904DC98-3534-42F3-92F7-4DE6730BBD2F}" type="sibTrans" cxnId="{63A2A49E-0D21-46F1-B806-44749A8B1E72}">
      <dgm:prSet/>
      <dgm:spPr/>
      <dgm:t>
        <a:bodyPr/>
        <a:lstStyle/>
        <a:p>
          <a:endParaRPr lang="en-US"/>
        </a:p>
      </dgm:t>
    </dgm:pt>
    <dgm:pt modelId="{94BB3A77-A324-4168-89B3-6FA642BA5A07}">
      <dgm:prSet/>
      <dgm:spPr/>
      <dgm:t>
        <a:bodyPr/>
        <a:lstStyle/>
        <a:p>
          <a:r>
            <a:rPr lang="es-ES"/>
            <a:t>Aumenta visibilidad</a:t>
          </a:r>
          <a:endParaRPr lang="en-US"/>
        </a:p>
      </dgm:t>
    </dgm:pt>
    <dgm:pt modelId="{326BE172-12D0-487C-AC36-5CCCC145A5F8}" type="parTrans" cxnId="{3FDAB293-7C6C-4593-81F4-B8ACC715FFCC}">
      <dgm:prSet/>
      <dgm:spPr/>
      <dgm:t>
        <a:bodyPr/>
        <a:lstStyle/>
        <a:p>
          <a:endParaRPr lang="en-US"/>
        </a:p>
      </dgm:t>
    </dgm:pt>
    <dgm:pt modelId="{698DAB14-37A9-4A76-BFAC-76F9F2ED17D2}" type="sibTrans" cxnId="{3FDAB293-7C6C-4593-81F4-B8ACC715FFCC}">
      <dgm:prSet/>
      <dgm:spPr/>
      <dgm:t>
        <a:bodyPr/>
        <a:lstStyle/>
        <a:p>
          <a:endParaRPr lang="en-US"/>
        </a:p>
      </dgm:t>
    </dgm:pt>
    <dgm:pt modelId="{7050F3BB-1077-4BB7-9A32-6B7CF2567696}">
      <dgm:prSet/>
      <dgm:spPr/>
      <dgm:t>
        <a:bodyPr/>
        <a:lstStyle/>
        <a:p>
          <a:r>
            <a:rPr lang="es-ES"/>
            <a:t>Incrementa probabilidad de aceptación</a:t>
          </a:r>
          <a:endParaRPr lang="en-US"/>
        </a:p>
      </dgm:t>
    </dgm:pt>
    <dgm:pt modelId="{2DAF0F77-286C-4FE1-AD72-11150BE6E283}" type="parTrans" cxnId="{42952363-2C50-46C6-A4DA-C20526CB7DEF}">
      <dgm:prSet/>
      <dgm:spPr/>
      <dgm:t>
        <a:bodyPr/>
        <a:lstStyle/>
        <a:p>
          <a:endParaRPr lang="en-US"/>
        </a:p>
      </dgm:t>
    </dgm:pt>
    <dgm:pt modelId="{A36C624F-C968-4987-92B7-8C68C1DC21A6}" type="sibTrans" cxnId="{42952363-2C50-46C6-A4DA-C20526CB7DEF}">
      <dgm:prSet/>
      <dgm:spPr/>
      <dgm:t>
        <a:bodyPr/>
        <a:lstStyle/>
        <a:p>
          <a:endParaRPr lang="en-US"/>
        </a:p>
      </dgm:t>
    </dgm:pt>
    <dgm:pt modelId="{758C19FF-EF01-4001-B70E-5373E3AF5C09}">
      <dgm:prSet/>
      <dgm:spPr/>
      <dgm:t>
        <a:bodyPr/>
        <a:lstStyle/>
        <a:p>
          <a:r>
            <a:rPr lang="es-ES"/>
            <a:t>Problema:</a:t>
          </a:r>
          <a:endParaRPr lang="en-US"/>
        </a:p>
      </dgm:t>
    </dgm:pt>
    <dgm:pt modelId="{3A26A437-F390-41F3-A9AF-485825DF6C4A}" type="parTrans" cxnId="{FB373520-6B6E-4CDB-B876-94786A45F216}">
      <dgm:prSet/>
      <dgm:spPr/>
      <dgm:t>
        <a:bodyPr/>
        <a:lstStyle/>
        <a:p>
          <a:endParaRPr lang="en-US"/>
        </a:p>
      </dgm:t>
    </dgm:pt>
    <dgm:pt modelId="{85363E09-D6FD-4F1A-9CBB-7387D317F030}" type="sibTrans" cxnId="{FB373520-6B6E-4CDB-B876-94786A45F216}">
      <dgm:prSet/>
      <dgm:spPr/>
      <dgm:t>
        <a:bodyPr/>
        <a:lstStyle/>
        <a:p>
          <a:endParaRPr lang="en-US"/>
        </a:p>
      </dgm:t>
    </dgm:pt>
    <dgm:pt modelId="{6B5278F4-DF65-46C9-A634-96C627C6A871}">
      <dgm:prSet/>
      <dgm:spPr/>
      <dgm:t>
        <a:bodyPr/>
        <a:lstStyle/>
        <a:p>
          <a:r>
            <a:rPr lang="es-ES"/>
            <a:t>Mucho de donde elegir, decisión basada en experiencia subjetiva.</a:t>
          </a:r>
          <a:endParaRPr lang="en-US"/>
        </a:p>
      </dgm:t>
    </dgm:pt>
    <dgm:pt modelId="{8B0FF9E0-E913-4258-B6E0-57080237D791}" type="parTrans" cxnId="{DB7DDAC4-CEE6-425C-8261-5525371AEF4C}">
      <dgm:prSet/>
      <dgm:spPr/>
      <dgm:t>
        <a:bodyPr/>
        <a:lstStyle/>
        <a:p>
          <a:endParaRPr lang="en-US"/>
        </a:p>
      </dgm:t>
    </dgm:pt>
    <dgm:pt modelId="{956484F9-140F-4308-A598-6D109DE17A16}" type="sibTrans" cxnId="{DB7DDAC4-CEE6-425C-8261-5525371AEF4C}">
      <dgm:prSet/>
      <dgm:spPr/>
      <dgm:t>
        <a:bodyPr/>
        <a:lstStyle/>
        <a:p>
          <a:endParaRPr lang="en-US"/>
        </a:p>
      </dgm:t>
    </dgm:pt>
    <dgm:pt modelId="{0286F80F-BA32-4A61-B5F3-5DCCAEE6A827}" type="pres">
      <dgm:prSet presAssocID="{12603FFB-B5FC-4D53-8D85-C98BB64BBC3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E071A5-C37E-4C4D-BFE9-BFB043063F5A}" type="pres">
      <dgm:prSet presAssocID="{B0BC4100-F2DD-4D17-BCEA-44398DAB70CA}" presName="hierRoot1" presStyleCnt="0"/>
      <dgm:spPr/>
    </dgm:pt>
    <dgm:pt modelId="{83FEBADC-DF1B-497E-8C11-1A5272773B14}" type="pres">
      <dgm:prSet presAssocID="{B0BC4100-F2DD-4D17-BCEA-44398DAB70CA}" presName="composite" presStyleCnt="0"/>
      <dgm:spPr/>
    </dgm:pt>
    <dgm:pt modelId="{62291313-D4C1-48A5-9C7E-86B1B0B453E8}" type="pres">
      <dgm:prSet presAssocID="{B0BC4100-F2DD-4D17-BCEA-44398DAB70CA}" presName="background" presStyleLbl="node0" presStyleIdx="0" presStyleCnt="4"/>
      <dgm:spPr/>
    </dgm:pt>
    <dgm:pt modelId="{C530ACD9-EAC4-47FE-BF13-E6FEA17AD746}" type="pres">
      <dgm:prSet presAssocID="{B0BC4100-F2DD-4D17-BCEA-44398DAB70CA}" presName="text" presStyleLbl="fgAcc0" presStyleIdx="0" presStyleCnt="4">
        <dgm:presLayoutVars>
          <dgm:chPref val="3"/>
        </dgm:presLayoutVars>
      </dgm:prSet>
      <dgm:spPr/>
    </dgm:pt>
    <dgm:pt modelId="{2502C2A9-7EC9-4CB5-9377-C3C37E2F9830}" type="pres">
      <dgm:prSet presAssocID="{B0BC4100-F2DD-4D17-BCEA-44398DAB70CA}" presName="hierChild2" presStyleCnt="0"/>
      <dgm:spPr/>
    </dgm:pt>
    <dgm:pt modelId="{7D29D377-5FA7-4B80-A49C-680D7F66D152}" type="pres">
      <dgm:prSet presAssocID="{EC20035D-D532-4C66-A6A2-E749E59B9D6F}" presName="hierRoot1" presStyleCnt="0"/>
      <dgm:spPr/>
    </dgm:pt>
    <dgm:pt modelId="{59C136B7-AF2E-4191-8808-225D127BC686}" type="pres">
      <dgm:prSet presAssocID="{EC20035D-D532-4C66-A6A2-E749E59B9D6F}" presName="composite" presStyleCnt="0"/>
      <dgm:spPr/>
    </dgm:pt>
    <dgm:pt modelId="{BFB4E5D5-B372-4601-8D25-49C78104C4CD}" type="pres">
      <dgm:prSet presAssocID="{EC20035D-D532-4C66-A6A2-E749E59B9D6F}" presName="background" presStyleLbl="node0" presStyleIdx="1" presStyleCnt="4"/>
      <dgm:spPr/>
    </dgm:pt>
    <dgm:pt modelId="{C58512A8-9874-4AFD-9665-97FFA2460735}" type="pres">
      <dgm:prSet presAssocID="{EC20035D-D532-4C66-A6A2-E749E59B9D6F}" presName="text" presStyleLbl="fgAcc0" presStyleIdx="1" presStyleCnt="4">
        <dgm:presLayoutVars>
          <dgm:chPref val="3"/>
        </dgm:presLayoutVars>
      </dgm:prSet>
      <dgm:spPr/>
    </dgm:pt>
    <dgm:pt modelId="{9FB5A8E2-6C04-4B9A-A592-9621DD9D738D}" type="pres">
      <dgm:prSet presAssocID="{EC20035D-D532-4C66-A6A2-E749E59B9D6F}" presName="hierChild2" presStyleCnt="0"/>
      <dgm:spPr/>
    </dgm:pt>
    <dgm:pt modelId="{3048EAA5-70A3-4EE0-9621-DEF054F61A16}" type="pres">
      <dgm:prSet presAssocID="{9A29073D-3717-4CD8-8AC4-D1790FB3B121}" presName="hierRoot1" presStyleCnt="0"/>
      <dgm:spPr/>
    </dgm:pt>
    <dgm:pt modelId="{A7B15DF2-76C5-4B29-8B46-5A49664C5CB2}" type="pres">
      <dgm:prSet presAssocID="{9A29073D-3717-4CD8-8AC4-D1790FB3B121}" presName="composite" presStyleCnt="0"/>
      <dgm:spPr/>
    </dgm:pt>
    <dgm:pt modelId="{D927A8E5-F193-4607-A2B2-6A3E19978E9D}" type="pres">
      <dgm:prSet presAssocID="{9A29073D-3717-4CD8-8AC4-D1790FB3B121}" presName="background" presStyleLbl="node0" presStyleIdx="2" presStyleCnt="4"/>
      <dgm:spPr/>
    </dgm:pt>
    <dgm:pt modelId="{0076D24E-76F5-4950-997B-5263DE176C97}" type="pres">
      <dgm:prSet presAssocID="{9A29073D-3717-4CD8-8AC4-D1790FB3B121}" presName="text" presStyleLbl="fgAcc0" presStyleIdx="2" presStyleCnt="4">
        <dgm:presLayoutVars>
          <dgm:chPref val="3"/>
        </dgm:presLayoutVars>
      </dgm:prSet>
      <dgm:spPr/>
    </dgm:pt>
    <dgm:pt modelId="{5242DD24-8608-44B6-8772-A9EA2DFDBC84}" type="pres">
      <dgm:prSet presAssocID="{9A29073D-3717-4CD8-8AC4-D1790FB3B121}" presName="hierChild2" presStyleCnt="0"/>
      <dgm:spPr/>
    </dgm:pt>
    <dgm:pt modelId="{A4B6F3F4-DF0D-490F-916B-49D3B727A347}" type="pres">
      <dgm:prSet presAssocID="{326BE172-12D0-487C-AC36-5CCCC145A5F8}" presName="Name10" presStyleLbl="parChTrans1D2" presStyleIdx="0" presStyleCnt="3"/>
      <dgm:spPr/>
    </dgm:pt>
    <dgm:pt modelId="{99709476-E5CB-4E56-B917-B840E42519E5}" type="pres">
      <dgm:prSet presAssocID="{94BB3A77-A324-4168-89B3-6FA642BA5A07}" presName="hierRoot2" presStyleCnt="0"/>
      <dgm:spPr/>
    </dgm:pt>
    <dgm:pt modelId="{D6588AAF-CF94-4980-8D76-D3999A096AC9}" type="pres">
      <dgm:prSet presAssocID="{94BB3A77-A324-4168-89B3-6FA642BA5A07}" presName="composite2" presStyleCnt="0"/>
      <dgm:spPr/>
    </dgm:pt>
    <dgm:pt modelId="{A14B524B-BE2B-4131-9C06-39133D3D3E2B}" type="pres">
      <dgm:prSet presAssocID="{94BB3A77-A324-4168-89B3-6FA642BA5A07}" presName="background2" presStyleLbl="node2" presStyleIdx="0" presStyleCnt="3"/>
      <dgm:spPr/>
    </dgm:pt>
    <dgm:pt modelId="{9653D428-72EA-46AC-BD93-E5072188505F}" type="pres">
      <dgm:prSet presAssocID="{94BB3A77-A324-4168-89B3-6FA642BA5A07}" presName="text2" presStyleLbl="fgAcc2" presStyleIdx="0" presStyleCnt="3">
        <dgm:presLayoutVars>
          <dgm:chPref val="3"/>
        </dgm:presLayoutVars>
      </dgm:prSet>
      <dgm:spPr/>
    </dgm:pt>
    <dgm:pt modelId="{F293D667-8862-480C-B128-1AC35247AE19}" type="pres">
      <dgm:prSet presAssocID="{94BB3A77-A324-4168-89B3-6FA642BA5A07}" presName="hierChild3" presStyleCnt="0"/>
      <dgm:spPr/>
    </dgm:pt>
    <dgm:pt modelId="{4603FA91-F19A-4259-9998-75EEE4B686B5}" type="pres">
      <dgm:prSet presAssocID="{2DAF0F77-286C-4FE1-AD72-11150BE6E283}" presName="Name10" presStyleLbl="parChTrans1D2" presStyleIdx="1" presStyleCnt="3"/>
      <dgm:spPr/>
    </dgm:pt>
    <dgm:pt modelId="{FA087E1F-85A8-4534-91E1-C9CAB82B5719}" type="pres">
      <dgm:prSet presAssocID="{7050F3BB-1077-4BB7-9A32-6B7CF2567696}" presName="hierRoot2" presStyleCnt="0"/>
      <dgm:spPr/>
    </dgm:pt>
    <dgm:pt modelId="{B9CA43EE-2607-43F3-BF1A-82FCF0190FB7}" type="pres">
      <dgm:prSet presAssocID="{7050F3BB-1077-4BB7-9A32-6B7CF2567696}" presName="composite2" presStyleCnt="0"/>
      <dgm:spPr/>
    </dgm:pt>
    <dgm:pt modelId="{CE56043D-2AF2-4A7D-A445-0F3D9FF9D3A2}" type="pres">
      <dgm:prSet presAssocID="{7050F3BB-1077-4BB7-9A32-6B7CF2567696}" presName="background2" presStyleLbl="node2" presStyleIdx="1" presStyleCnt="3"/>
      <dgm:spPr/>
    </dgm:pt>
    <dgm:pt modelId="{10B214E7-AE02-478C-A995-408615113C01}" type="pres">
      <dgm:prSet presAssocID="{7050F3BB-1077-4BB7-9A32-6B7CF2567696}" presName="text2" presStyleLbl="fgAcc2" presStyleIdx="1" presStyleCnt="3">
        <dgm:presLayoutVars>
          <dgm:chPref val="3"/>
        </dgm:presLayoutVars>
      </dgm:prSet>
      <dgm:spPr/>
    </dgm:pt>
    <dgm:pt modelId="{E40761B4-0AE4-4D66-9260-9A415DE8AA81}" type="pres">
      <dgm:prSet presAssocID="{7050F3BB-1077-4BB7-9A32-6B7CF2567696}" presName="hierChild3" presStyleCnt="0"/>
      <dgm:spPr/>
    </dgm:pt>
    <dgm:pt modelId="{8D33C143-E38B-4CD6-9A66-1EA94D56FA3D}" type="pres">
      <dgm:prSet presAssocID="{758C19FF-EF01-4001-B70E-5373E3AF5C09}" presName="hierRoot1" presStyleCnt="0"/>
      <dgm:spPr/>
    </dgm:pt>
    <dgm:pt modelId="{548BD49F-5422-480F-93EB-55FF9A8F0077}" type="pres">
      <dgm:prSet presAssocID="{758C19FF-EF01-4001-B70E-5373E3AF5C09}" presName="composite" presStyleCnt="0"/>
      <dgm:spPr/>
    </dgm:pt>
    <dgm:pt modelId="{554A6A45-94F9-47AD-9421-47BA457833A1}" type="pres">
      <dgm:prSet presAssocID="{758C19FF-EF01-4001-B70E-5373E3AF5C09}" presName="background" presStyleLbl="node0" presStyleIdx="3" presStyleCnt="4"/>
      <dgm:spPr/>
    </dgm:pt>
    <dgm:pt modelId="{D418F1D9-1753-488D-988E-AB194CD09B71}" type="pres">
      <dgm:prSet presAssocID="{758C19FF-EF01-4001-B70E-5373E3AF5C09}" presName="text" presStyleLbl="fgAcc0" presStyleIdx="3" presStyleCnt="4">
        <dgm:presLayoutVars>
          <dgm:chPref val="3"/>
        </dgm:presLayoutVars>
      </dgm:prSet>
      <dgm:spPr/>
    </dgm:pt>
    <dgm:pt modelId="{A94F5324-8416-4528-B83B-2D6DE4DE3D43}" type="pres">
      <dgm:prSet presAssocID="{758C19FF-EF01-4001-B70E-5373E3AF5C09}" presName="hierChild2" presStyleCnt="0"/>
      <dgm:spPr/>
    </dgm:pt>
    <dgm:pt modelId="{FB190F78-8D1D-432D-B45E-7DAD9C5324DD}" type="pres">
      <dgm:prSet presAssocID="{8B0FF9E0-E913-4258-B6E0-57080237D791}" presName="Name10" presStyleLbl="parChTrans1D2" presStyleIdx="2" presStyleCnt="3"/>
      <dgm:spPr/>
    </dgm:pt>
    <dgm:pt modelId="{00ED57E8-0EDD-456E-8471-EF2445FC30EF}" type="pres">
      <dgm:prSet presAssocID="{6B5278F4-DF65-46C9-A634-96C627C6A871}" presName="hierRoot2" presStyleCnt="0"/>
      <dgm:spPr/>
    </dgm:pt>
    <dgm:pt modelId="{96B569A6-0828-40FD-A7E5-BAC0AC6C5F67}" type="pres">
      <dgm:prSet presAssocID="{6B5278F4-DF65-46C9-A634-96C627C6A871}" presName="composite2" presStyleCnt="0"/>
      <dgm:spPr/>
    </dgm:pt>
    <dgm:pt modelId="{786D491C-531A-4E8A-BC33-1CD692495B1C}" type="pres">
      <dgm:prSet presAssocID="{6B5278F4-DF65-46C9-A634-96C627C6A871}" presName="background2" presStyleLbl="node2" presStyleIdx="2" presStyleCnt="3"/>
      <dgm:spPr/>
    </dgm:pt>
    <dgm:pt modelId="{2163265A-B70F-4B0D-8745-236541DF1F64}" type="pres">
      <dgm:prSet presAssocID="{6B5278F4-DF65-46C9-A634-96C627C6A871}" presName="text2" presStyleLbl="fgAcc2" presStyleIdx="2" presStyleCnt="3">
        <dgm:presLayoutVars>
          <dgm:chPref val="3"/>
        </dgm:presLayoutVars>
      </dgm:prSet>
      <dgm:spPr/>
    </dgm:pt>
    <dgm:pt modelId="{F1DAA558-6FC7-4452-B288-D22EFD59974B}" type="pres">
      <dgm:prSet presAssocID="{6B5278F4-DF65-46C9-A634-96C627C6A871}" presName="hierChild3" presStyleCnt="0"/>
      <dgm:spPr/>
    </dgm:pt>
  </dgm:ptLst>
  <dgm:cxnLst>
    <dgm:cxn modelId="{87F1B609-51B0-4DAA-86BF-EC10DCA78738}" type="presOf" srcId="{8B0FF9E0-E913-4258-B6E0-57080237D791}" destId="{FB190F78-8D1D-432D-B45E-7DAD9C5324DD}" srcOrd="0" destOrd="0" presId="urn:microsoft.com/office/officeart/2005/8/layout/hierarchy1"/>
    <dgm:cxn modelId="{B4C8D313-C179-468A-A618-FC53A94F93C1}" type="presOf" srcId="{12603FFB-B5FC-4D53-8D85-C98BB64BBC3D}" destId="{0286F80F-BA32-4A61-B5F3-5DCCAEE6A827}" srcOrd="0" destOrd="0" presId="urn:microsoft.com/office/officeart/2005/8/layout/hierarchy1"/>
    <dgm:cxn modelId="{FB373520-6B6E-4CDB-B876-94786A45F216}" srcId="{12603FFB-B5FC-4D53-8D85-C98BB64BBC3D}" destId="{758C19FF-EF01-4001-B70E-5373E3AF5C09}" srcOrd="3" destOrd="0" parTransId="{3A26A437-F390-41F3-A9AF-485825DF6C4A}" sibTransId="{85363E09-D6FD-4F1A-9CBB-7387D317F030}"/>
    <dgm:cxn modelId="{1E82713A-B53F-47BA-BE62-FF3ADA97326E}" type="presOf" srcId="{326BE172-12D0-487C-AC36-5CCCC145A5F8}" destId="{A4B6F3F4-DF0D-490F-916B-49D3B727A347}" srcOrd="0" destOrd="0" presId="urn:microsoft.com/office/officeart/2005/8/layout/hierarchy1"/>
    <dgm:cxn modelId="{8734F240-2B03-440A-A836-15A595534C80}" type="presOf" srcId="{9A29073D-3717-4CD8-8AC4-D1790FB3B121}" destId="{0076D24E-76F5-4950-997B-5263DE176C97}" srcOrd="0" destOrd="0" presId="urn:microsoft.com/office/officeart/2005/8/layout/hierarchy1"/>
    <dgm:cxn modelId="{9CF0215D-5A3F-4C95-9E07-84F0EA546776}" type="presOf" srcId="{7050F3BB-1077-4BB7-9A32-6B7CF2567696}" destId="{10B214E7-AE02-478C-A995-408615113C01}" srcOrd="0" destOrd="0" presId="urn:microsoft.com/office/officeart/2005/8/layout/hierarchy1"/>
    <dgm:cxn modelId="{42952363-2C50-46C6-A4DA-C20526CB7DEF}" srcId="{9A29073D-3717-4CD8-8AC4-D1790FB3B121}" destId="{7050F3BB-1077-4BB7-9A32-6B7CF2567696}" srcOrd="1" destOrd="0" parTransId="{2DAF0F77-286C-4FE1-AD72-11150BE6E283}" sibTransId="{A36C624F-C968-4987-92B7-8C68C1DC21A6}"/>
    <dgm:cxn modelId="{B4405347-2F15-4913-B469-C43290EBC53F}" srcId="{12603FFB-B5FC-4D53-8D85-C98BB64BBC3D}" destId="{EC20035D-D532-4C66-A6A2-E749E59B9D6F}" srcOrd="1" destOrd="0" parTransId="{7418A57A-5C74-41A2-A4D7-6CFC875D92E7}" sibTransId="{A676A14E-31C3-4F21-9ADC-2B9CDA92AA3C}"/>
    <dgm:cxn modelId="{429B7B7F-F0C7-4BEC-B5F9-6406373E4E6B}" type="presOf" srcId="{2DAF0F77-286C-4FE1-AD72-11150BE6E283}" destId="{4603FA91-F19A-4259-9998-75EEE4B686B5}" srcOrd="0" destOrd="0" presId="urn:microsoft.com/office/officeart/2005/8/layout/hierarchy1"/>
    <dgm:cxn modelId="{B19CE991-0ADB-41ED-9CC1-A96B6B45A051}" type="presOf" srcId="{B0BC4100-F2DD-4D17-BCEA-44398DAB70CA}" destId="{C530ACD9-EAC4-47FE-BF13-E6FEA17AD746}" srcOrd="0" destOrd="0" presId="urn:microsoft.com/office/officeart/2005/8/layout/hierarchy1"/>
    <dgm:cxn modelId="{3FDAB293-7C6C-4593-81F4-B8ACC715FFCC}" srcId="{9A29073D-3717-4CD8-8AC4-D1790FB3B121}" destId="{94BB3A77-A324-4168-89B3-6FA642BA5A07}" srcOrd="0" destOrd="0" parTransId="{326BE172-12D0-487C-AC36-5CCCC145A5F8}" sibTransId="{698DAB14-37A9-4A76-BFAC-76F9F2ED17D2}"/>
    <dgm:cxn modelId="{63A2A49E-0D21-46F1-B806-44749A8B1E72}" srcId="{12603FFB-B5FC-4D53-8D85-C98BB64BBC3D}" destId="{9A29073D-3717-4CD8-8AC4-D1790FB3B121}" srcOrd="2" destOrd="0" parTransId="{4A155949-526E-4E00-8F0A-9C10EA978DB5}" sibTransId="{1904DC98-3534-42F3-92F7-4DE6730BBD2F}"/>
    <dgm:cxn modelId="{8CB24FA2-EA44-4914-B95F-ED8DB3920F4C}" srcId="{12603FFB-B5FC-4D53-8D85-C98BB64BBC3D}" destId="{B0BC4100-F2DD-4D17-BCEA-44398DAB70CA}" srcOrd="0" destOrd="0" parTransId="{90EE7CB1-3E0A-40A0-BED6-2EAB524A7455}" sibTransId="{388FF446-1003-45EF-BD69-1DA994D910CC}"/>
    <dgm:cxn modelId="{E1A458B6-4E98-416E-B6EA-5BE7FE677EAB}" type="presOf" srcId="{758C19FF-EF01-4001-B70E-5373E3AF5C09}" destId="{D418F1D9-1753-488D-988E-AB194CD09B71}" srcOrd="0" destOrd="0" presId="urn:microsoft.com/office/officeart/2005/8/layout/hierarchy1"/>
    <dgm:cxn modelId="{DB7DDAC4-CEE6-425C-8261-5525371AEF4C}" srcId="{758C19FF-EF01-4001-B70E-5373E3AF5C09}" destId="{6B5278F4-DF65-46C9-A634-96C627C6A871}" srcOrd="0" destOrd="0" parTransId="{8B0FF9E0-E913-4258-B6E0-57080237D791}" sibTransId="{956484F9-140F-4308-A598-6D109DE17A16}"/>
    <dgm:cxn modelId="{FE22F7C8-8697-4CDF-BC68-31D36EF761FA}" type="presOf" srcId="{EC20035D-D532-4C66-A6A2-E749E59B9D6F}" destId="{C58512A8-9874-4AFD-9665-97FFA2460735}" srcOrd="0" destOrd="0" presId="urn:microsoft.com/office/officeart/2005/8/layout/hierarchy1"/>
    <dgm:cxn modelId="{5AB457ED-A1AC-4ACE-A81A-A62F1023D121}" type="presOf" srcId="{94BB3A77-A324-4168-89B3-6FA642BA5A07}" destId="{9653D428-72EA-46AC-BD93-E5072188505F}" srcOrd="0" destOrd="0" presId="urn:microsoft.com/office/officeart/2005/8/layout/hierarchy1"/>
    <dgm:cxn modelId="{19AF3FFE-F772-4B76-9178-2FFA2B2B64B0}" type="presOf" srcId="{6B5278F4-DF65-46C9-A634-96C627C6A871}" destId="{2163265A-B70F-4B0D-8745-236541DF1F64}" srcOrd="0" destOrd="0" presId="urn:microsoft.com/office/officeart/2005/8/layout/hierarchy1"/>
    <dgm:cxn modelId="{1B20E15D-8AA8-4027-9DE5-233803291426}" type="presParOf" srcId="{0286F80F-BA32-4A61-B5F3-5DCCAEE6A827}" destId="{A1E071A5-C37E-4C4D-BFE9-BFB043063F5A}" srcOrd="0" destOrd="0" presId="urn:microsoft.com/office/officeart/2005/8/layout/hierarchy1"/>
    <dgm:cxn modelId="{636DD3B4-3403-468D-9D2E-89B1A91149C1}" type="presParOf" srcId="{A1E071A5-C37E-4C4D-BFE9-BFB043063F5A}" destId="{83FEBADC-DF1B-497E-8C11-1A5272773B14}" srcOrd="0" destOrd="0" presId="urn:microsoft.com/office/officeart/2005/8/layout/hierarchy1"/>
    <dgm:cxn modelId="{8F7060FE-96A1-4575-BDC1-6CCE9D79AFF8}" type="presParOf" srcId="{83FEBADC-DF1B-497E-8C11-1A5272773B14}" destId="{62291313-D4C1-48A5-9C7E-86B1B0B453E8}" srcOrd="0" destOrd="0" presId="urn:microsoft.com/office/officeart/2005/8/layout/hierarchy1"/>
    <dgm:cxn modelId="{4992DBA0-3B1A-4DD8-82AA-BB3C84B52CF9}" type="presParOf" srcId="{83FEBADC-DF1B-497E-8C11-1A5272773B14}" destId="{C530ACD9-EAC4-47FE-BF13-E6FEA17AD746}" srcOrd="1" destOrd="0" presId="urn:microsoft.com/office/officeart/2005/8/layout/hierarchy1"/>
    <dgm:cxn modelId="{D006DFD3-591F-418A-8088-1623AC2A4432}" type="presParOf" srcId="{A1E071A5-C37E-4C4D-BFE9-BFB043063F5A}" destId="{2502C2A9-7EC9-4CB5-9377-C3C37E2F9830}" srcOrd="1" destOrd="0" presId="urn:microsoft.com/office/officeart/2005/8/layout/hierarchy1"/>
    <dgm:cxn modelId="{7A0ADBFA-ACBB-4569-B84C-FADF77AD8597}" type="presParOf" srcId="{0286F80F-BA32-4A61-B5F3-5DCCAEE6A827}" destId="{7D29D377-5FA7-4B80-A49C-680D7F66D152}" srcOrd="1" destOrd="0" presId="urn:microsoft.com/office/officeart/2005/8/layout/hierarchy1"/>
    <dgm:cxn modelId="{15E549F7-50A9-4616-B3A4-9AD1C8E37C16}" type="presParOf" srcId="{7D29D377-5FA7-4B80-A49C-680D7F66D152}" destId="{59C136B7-AF2E-4191-8808-225D127BC686}" srcOrd="0" destOrd="0" presId="urn:microsoft.com/office/officeart/2005/8/layout/hierarchy1"/>
    <dgm:cxn modelId="{9FB88893-191D-412C-A756-01FE80E433F6}" type="presParOf" srcId="{59C136B7-AF2E-4191-8808-225D127BC686}" destId="{BFB4E5D5-B372-4601-8D25-49C78104C4CD}" srcOrd="0" destOrd="0" presId="urn:microsoft.com/office/officeart/2005/8/layout/hierarchy1"/>
    <dgm:cxn modelId="{FE534C28-FDA7-431B-A0EA-3F0CD86EC814}" type="presParOf" srcId="{59C136B7-AF2E-4191-8808-225D127BC686}" destId="{C58512A8-9874-4AFD-9665-97FFA2460735}" srcOrd="1" destOrd="0" presId="urn:microsoft.com/office/officeart/2005/8/layout/hierarchy1"/>
    <dgm:cxn modelId="{A146B83B-6184-4B57-B487-7D5B587D5ECF}" type="presParOf" srcId="{7D29D377-5FA7-4B80-A49C-680D7F66D152}" destId="{9FB5A8E2-6C04-4B9A-A592-9621DD9D738D}" srcOrd="1" destOrd="0" presId="urn:microsoft.com/office/officeart/2005/8/layout/hierarchy1"/>
    <dgm:cxn modelId="{2A981E74-9A6A-4EAE-A159-D3F7A77132E1}" type="presParOf" srcId="{0286F80F-BA32-4A61-B5F3-5DCCAEE6A827}" destId="{3048EAA5-70A3-4EE0-9621-DEF054F61A16}" srcOrd="2" destOrd="0" presId="urn:microsoft.com/office/officeart/2005/8/layout/hierarchy1"/>
    <dgm:cxn modelId="{C592F85D-27D2-4E4B-B60C-8C7994BFFB5E}" type="presParOf" srcId="{3048EAA5-70A3-4EE0-9621-DEF054F61A16}" destId="{A7B15DF2-76C5-4B29-8B46-5A49664C5CB2}" srcOrd="0" destOrd="0" presId="urn:microsoft.com/office/officeart/2005/8/layout/hierarchy1"/>
    <dgm:cxn modelId="{7182A6BF-059C-40BC-8F84-860BF7A168AD}" type="presParOf" srcId="{A7B15DF2-76C5-4B29-8B46-5A49664C5CB2}" destId="{D927A8E5-F193-4607-A2B2-6A3E19978E9D}" srcOrd="0" destOrd="0" presId="urn:microsoft.com/office/officeart/2005/8/layout/hierarchy1"/>
    <dgm:cxn modelId="{6F5113A7-83EB-4342-9ED9-6770F6808AC0}" type="presParOf" srcId="{A7B15DF2-76C5-4B29-8B46-5A49664C5CB2}" destId="{0076D24E-76F5-4950-997B-5263DE176C97}" srcOrd="1" destOrd="0" presId="urn:microsoft.com/office/officeart/2005/8/layout/hierarchy1"/>
    <dgm:cxn modelId="{527D568C-B1B5-48E5-8B59-792F6D9FB1AF}" type="presParOf" srcId="{3048EAA5-70A3-4EE0-9621-DEF054F61A16}" destId="{5242DD24-8608-44B6-8772-A9EA2DFDBC84}" srcOrd="1" destOrd="0" presId="urn:microsoft.com/office/officeart/2005/8/layout/hierarchy1"/>
    <dgm:cxn modelId="{F2F81571-1F5B-45DA-ACAA-0F1008450785}" type="presParOf" srcId="{5242DD24-8608-44B6-8772-A9EA2DFDBC84}" destId="{A4B6F3F4-DF0D-490F-916B-49D3B727A347}" srcOrd="0" destOrd="0" presId="urn:microsoft.com/office/officeart/2005/8/layout/hierarchy1"/>
    <dgm:cxn modelId="{71D769FD-4443-436D-AE49-F1384336402E}" type="presParOf" srcId="{5242DD24-8608-44B6-8772-A9EA2DFDBC84}" destId="{99709476-E5CB-4E56-B917-B840E42519E5}" srcOrd="1" destOrd="0" presId="urn:microsoft.com/office/officeart/2005/8/layout/hierarchy1"/>
    <dgm:cxn modelId="{76E11523-84C0-4408-A09A-767D73CA0D7E}" type="presParOf" srcId="{99709476-E5CB-4E56-B917-B840E42519E5}" destId="{D6588AAF-CF94-4980-8D76-D3999A096AC9}" srcOrd="0" destOrd="0" presId="urn:microsoft.com/office/officeart/2005/8/layout/hierarchy1"/>
    <dgm:cxn modelId="{99BAB3EA-B163-4575-93C2-184A80B40666}" type="presParOf" srcId="{D6588AAF-CF94-4980-8D76-D3999A096AC9}" destId="{A14B524B-BE2B-4131-9C06-39133D3D3E2B}" srcOrd="0" destOrd="0" presId="urn:microsoft.com/office/officeart/2005/8/layout/hierarchy1"/>
    <dgm:cxn modelId="{30782379-A946-432A-83EF-04D043A6C7F9}" type="presParOf" srcId="{D6588AAF-CF94-4980-8D76-D3999A096AC9}" destId="{9653D428-72EA-46AC-BD93-E5072188505F}" srcOrd="1" destOrd="0" presId="urn:microsoft.com/office/officeart/2005/8/layout/hierarchy1"/>
    <dgm:cxn modelId="{2BDFEC42-82DC-4C30-9875-B000D63E6527}" type="presParOf" srcId="{99709476-E5CB-4E56-B917-B840E42519E5}" destId="{F293D667-8862-480C-B128-1AC35247AE19}" srcOrd="1" destOrd="0" presId="urn:microsoft.com/office/officeart/2005/8/layout/hierarchy1"/>
    <dgm:cxn modelId="{6FA67113-7FE4-4093-9B58-3CFCDE304850}" type="presParOf" srcId="{5242DD24-8608-44B6-8772-A9EA2DFDBC84}" destId="{4603FA91-F19A-4259-9998-75EEE4B686B5}" srcOrd="2" destOrd="0" presId="urn:microsoft.com/office/officeart/2005/8/layout/hierarchy1"/>
    <dgm:cxn modelId="{92E5B032-BA96-47C3-8124-A36C3DCCC8E4}" type="presParOf" srcId="{5242DD24-8608-44B6-8772-A9EA2DFDBC84}" destId="{FA087E1F-85A8-4534-91E1-C9CAB82B5719}" srcOrd="3" destOrd="0" presId="urn:microsoft.com/office/officeart/2005/8/layout/hierarchy1"/>
    <dgm:cxn modelId="{51D1A62F-2D7E-4505-A4E5-27D18345FDF1}" type="presParOf" srcId="{FA087E1F-85A8-4534-91E1-C9CAB82B5719}" destId="{B9CA43EE-2607-43F3-BF1A-82FCF0190FB7}" srcOrd="0" destOrd="0" presId="urn:microsoft.com/office/officeart/2005/8/layout/hierarchy1"/>
    <dgm:cxn modelId="{DAB71A4B-C7E4-4388-9781-E1E834C7F24A}" type="presParOf" srcId="{B9CA43EE-2607-43F3-BF1A-82FCF0190FB7}" destId="{CE56043D-2AF2-4A7D-A445-0F3D9FF9D3A2}" srcOrd="0" destOrd="0" presId="urn:microsoft.com/office/officeart/2005/8/layout/hierarchy1"/>
    <dgm:cxn modelId="{BFE40148-E1D3-42E2-89E2-38CF08A51E1C}" type="presParOf" srcId="{B9CA43EE-2607-43F3-BF1A-82FCF0190FB7}" destId="{10B214E7-AE02-478C-A995-408615113C01}" srcOrd="1" destOrd="0" presId="urn:microsoft.com/office/officeart/2005/8/layout/hierarchy1"/>
    <dgm:cxn modelId="{1C234238-39E1-4741-A50A-8832CA23358A}" type="presParOf" srcId="{FA087E1F-85A8-4534-91E1-C9CAB82B5719}" destId="{E40761B4-0AE4-4D66-9260-9A415DE8AA81}" srcOrd="1" destOrd="0" presId="urn:microsoft.com/office/officeart/2005/8/layout/hierarchy1"/>
    <dgm:cxn modelId="{6CCF699C-109A-4EC6-BC92-C3AC9C61452B}" type="presParOf" srcId="{0286F80F-BA32-4A61-B5F3-5DCCAEE6A827}" destId="{8D33C143-E38B-4CD6-9A66-1EA94D56FA3D}" srcOrd="3" destOrd="0" presId="urn:microsoft.com/office/officeart/2005/8/layout/hierarchy1"/>
    <dgm:cxn modelId="{370C8773-0B26-4E09-8DBB-3B0ABD4A396C}" type="presParOf" srcId="{8D33C143-E38B-4CD6-9A66-1EA94D56FA3D}" destId="{548BD49F-5422-480F-93EB-55FF9A8F0077}" srcOrd="0" destOrd="0" presId="urn:microsoft.com/office/officeart/2005/8/layout/hierarchy1"/>
    <dgm:cxn modelId="{FCA703FC-601F-4DED-86B0-110CA22D6C0E}" type="presParOf" srcId="{548BD49F-5422-480F-93EB-55FF9A8F0077}" destId="{554A6A45-94F9-47AD-9421-47BA457833A1}" srcOrd="0" destOrd="0" presId="urn:microsoft.com/office/officeart/2005/8/layout/hierarchy1"/>
    <dgm:cxn modelId="{34783379-5EE5-46A4-BAAB-B9FF1DF86EA3}" type="presParOf" srcId="{548BD49F-5422-480F-93EB-55FF9A8F0077}" destId="{D418F1D9-1753-488D-988E-AB194CD09B71}" srcOrd="1" destOrd="0" presId="urn:microsoft.com/office/officeart/2005/8/layout/hierarchy1"/>
    <dgm:cxn modelId="{A5F47B77-FE12-430A-8B71-B162B845902F}" type="presParOf" srcId="{8D33C143-E38B-4CD6-9A66-1EA94D56FA3D}" destId="{A94F5324-8416-4528-B83B-2D6DE4DE3D43}" srcOrd="1" destOrd="0" presId="urn:microsoft.com/office/officeart/2005/8/layout/hierarchy1"/>
    <dgm:cxn modelId="{272EA03D-B528-4177-8185-695221142BE5}" type="presParOf" srcId="{A94F5324-8416-4528-B83B-2D6DE4DE3D43}" destId="{FB190F78-8D1D-432D-B45E-7DAD9C5324DD}" srcOrd="0" destOrd="0" presId="urn:microsoft.com/office/officeart/2005/8/layout/hierarchy1"/>
    <dgm:cxn modelId="{F6D0039B-BD55-4FEF-A26E-4261B0FA9F1F}" type="presParOf" srcId="{A94F5324-8416-4528-B83B-2D6DE4DE3D43}" destId="{00ED57E8-0EDD-456E-8471-EF2445FC30EF}" srcOrd="1" destOrd="0" presId="urn:microsoft.com/office/officeart/2005/8/layout/hierarchy1"/>
    <dgm:cxn modelId="{20BC817D-F7AE-441C-8919-A4FDD9F66A3E}" type="presParOf" srcId="{00ED57E8-0EDD-456E-8471-EF2445FC30EF}" destId="{96B569A6-0828-40FD-A7E5-BAC0AC6C5F67}" srcOrd="0" destOrd="0" presId="urn:microsoft.com/office/officeart/2005/8/layout/hierarchy1"/>
    <dgm:cxn modelId="{57A7B70C-D962-4DCB-9E34-638C7F7E9DA1}" type="presParOf" srcId="{96B569A6-0828-40FD-A7E5-BAC0AC6C5F67}" destId="{786D491C-531A-4E8A-BC33-1CD692495B1C}" srcOrd="0" destOrd="0" presId="urn:microsoft.com/office/officeart/2005/8/layout/hierarchy1"/>
    <dgm:cxn modelId="{6CA22662-874E-4D43-A2CA-7D15F8A004F6}" type="presParOf" srcId="{96B569A6-0828-40FD-A7E5-BAC0AC6C5F67}" destId="{2163265A-B70F-4B0D-8745-236541DF1F64}" srcOrd="1" destOrd="0" presId="urn:microsoft.com/office/officeart/2005/8/layout/hierarchy1"/>
    <dgm:cxn modelId="{CE266DA7-BD4A-47B6-BBA3-8E5F3115039C}" type="presParOf" srcId="{00ED57E8-0EDD-456E-8471-EF2445FC30EF}" destId="{F1DAA558-6FC7-4452-B288-D22EFD5997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90F78-8D1D-432D-B45E-7DAD9C5324DD}">
      <dsp:nvSpPr>
        <dsp:cNvPr id="0" name=""/>
        <dsp:cNvSpPr/>
      </dsp:nvSpPr>
      <dsp:spPr>
        <a:xfrm>
          <a:off x="8734488" y="1207265"/>
          <a:ext cx="91440" cy="5342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427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3FA91-F19A-4259-9998-75EEE4B686B5}">
      <dsp:nvSpPr>
        <dsp:cNvPr id="0" name=""/>
        <dsp:cNvSpPr/>
      </dsp:nvSpPr>
      <dsp:spPr>
        <a:xfrm>
          <a:off x="5412264" y="1207265"/>
          <a:ext cx="1122647" cy="534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095"/>
              </a:lnTo>
              <a:lnTo>
                <a:pt x="1122647" y="364095"/>
              </a:lnTo>
              <a:lnTo>
                <a:pt x="1122647" y="53427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6F3F4-DF0D-490F-916B-49D3B727A347}">
      <dsp:nvSpPr>
        <dsp:cNvPr id="0" name=""/>
        <dsp:cNvSpPr/>
      </dsp:nvSpPr>
      <dsp:spPr>
        <a:xfrm>
          <a:off x="4289617" y="1207265"/>
          <a:ext cx="1122647" cy="534278"/>
        </a:xfrm>
        <a:custGeom>
          <a:avLst/>
          <a:gdLst/>
          <a:ahLst/>
          <a:cxnLst/>
          <a:rect l="0" t="0" r="0" b="0"/>
          <a:pathLst>
            <a:path>
              <a:moveTo>
                <a:pt x="1122647" y="0"/>
              </a:moveTo>
              <a:lnTo>
                <a:pt x="1122647" y="364095"/>
              </a:lnTo>
              <a:lnTo>
                <a:pt x="0" y="364095"/>
              </a:lnTo>
              <a:lnTo>
                <a:pt x="0" y="53427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91313-D4C1-48A5-9C7E-86B1B0B453E8}">
      <dsp:nvSpPr>
        <dsp:cNvPr id="0" name=""/>
        <dsp:cNvSpPr/>
      </dsp:nvSpPr>
      <dsp:spPr>
        <a:xfrm>
          <a:off x="3143" y="40732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30ACD9-EAC4-47FE-BF13-E6FEA17AD746}">
      <dsp:nvSpPr>
        <dsp:cNvPr id="0" name=""/>
        <dsp:cNvSpPr/>
      </dsp:nvSpPr>
      <dsp:spPr>
        <a:xfrm>
          <a:off x="207261" y="234644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Existen miles de revistas científicas</a:t>
          </a:r>
          <a:endParaRPr lang="en-US" sz="1500" kern="1200"/>
        </a:p>
      </dsp:txBody>
      <dsp:txXfrm>
        <a:off x="241428" y="268811"/>
        <a:ext cx="1768725" cy="1098199"/>
      </dsp:txXfrm>
    </dsp:sp>
    <dsp:sp modelId="{BFB4E5D5-B372-4601-8D25-49C78104C4CD}">
      <dsp:nvSpPr>
        <dsp:cNvPr id="0" name=""/>
        <dsp:cNvSpPr/>
      </dsp:nvSpPr>
      <dsp:spPr>
        <a:xfrm>
          <a:off x="2248439" y="40732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8512A8-9874-4AFD-9665-97FFA2460735}">
      <dsp:nvSpPr>
        <dsp:cNvPr id="0" name=""/>
        <dsp:cNvSpPr/>
      </dsp:nvSpPr>
      <dsp:spPr>
        <a:xfrm>
          <a:off x="2452557" y="234644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En un mismo campo → decenas de opciones</a:t>
          </a:r>
          <a:endParaRPr lang="en-US" sz="1500" kern="1200"/>
        </a:p>
      </dsp:txBody>
      <dsp:txXfrm>
        <a:off x="2486724" y="268811"/>
        <a:ext cx="1768725" cy="1098199"/>
      </dsp:txXfrm>
    </dsp:sp>
    <dsp:sp modelId="{D927A8E5-F193-4607-A2B2-6A3E19978E9D}">
      <dsp:nvSpPr>
        <dsp:cNvPr id="0" name=""/>
        <dsp:cNvSpPr/>
      </dsp:nvSpPr>
      <dsp:spPr>
        <a:xfrm>
          <a:off x="4493735" y="40732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76D24E-76F5-4950-997B-5263DE176C97}">
      <dsp:nvSpPr>
        <dsp:cNvPr id="0" name=""/>
        <dsp:cNvSpPr/>
      </dsp:nvSpPr>
      <dsp:spPr>
        <a:xfrm>
          <a:off x="4697852" y="234644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Elegir revista correcta:</a:t>
          </a:r>
          <a:endParaRPr lang="en-US" sz="1500" kern="1200"/>
        </a:p>
      </dsp:txBody>
      <dsp:txXfrm>
        <a:off x="4732019" y="268811"/>
        <a:ext cx="1768725" cy="1098199"/>
      </dsp:txXfrm>
    </dsp:sp>
    <dsp:sp modelId="{A14B524B-BE2B-4131-9C06-39133D3D3E2B}">
      <dsp:nvSpPr>
        <dsp:cNvPr id="0" name=""/>
        <dsp:cNvSpPr/>
      </dsp:nvSpPr>
      <dsp:spPr>
        <a:xfrm>
          <a:off x="3371087" y="1741543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53D428-72EA-46AC-BD93-E5072188505F}">
      <dsp:nvSpPr>
        <dsp:cNvPr id="0" name=""/>
        <dsp:cNvSpPr/>
      </dsp:nvSpPr>
      <dsp:spPr>
        <a:xfrm>
          <a:off x="3575205" y="1935455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Aumenta visibilidad</a:t>
          </a:r>
          <a:endParaRPr lang="en-US" sz="1500" kern="1200"/>
        </a:p>
      </dsp:txBody>
      <dsp:txXfrm>
        <a:off x="3609372" y="1969622"/>
        <a:ext cx="1768725" cy="1098199"/>
      </dsp:txXfrm>
    </dsp:sp>
    <dsp:sp modelId="{CE56043D-2AF2-4A7D-A445-0F3D9FF9D3A2}">
      <dsp:nvSpPr>
        <dsp:cNvPr id="0" name=""/>
        <dsp:cNvSpPr/>
      </dsp:nvSpPr>
      <dsp:spPr>
        <a:xfrm>
          <a:off x="5616382" y="1741543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B214E7-AE02-478C-A995-408615113C01}">
      <dsp:nvSpPr>
        <dsp:cNvPr id="0" name=""/>
        <dsp:cNvSpPr/>
      </dsp:nvSpPr>
      <dsp:spPr>
        <a:xfrm>
          <a:off x="5820500" y="1935455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Incrementa probabilidad de aceptación</a:t>
          </a:r>
          <a:endParaRPr lang="en-US" sz="1500" kern="1200"/>
        </a:p>
      </dsp:txBody>
      <dsp:txXfrm>
        <a:off x="5854667" y="1969622"/>
        <a:ext cx="1768725" cy="1098199"/>
      </dsp:txXfrm>
    </dsp:sp>
    <dsp:sp modelId="{554A6A45-94F9-47AD-9421-47BA457833A1}">
      <dsp:nvSpPr>
        <dsp:cNvPr id="0" name=""/>
        <dsp:cNvSpPr/>
      </dsp:nvSpPr>
      <dsp:spPr>
        <a:xfrm>
          <a:off x="7861678" y="40732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18F1D9-1753-488D-988E-AB194CD09B71}">
      <dsp:nvSpPr>
        <dsp:cNvPr id="0" name=""/>
        <dsp:cNvSpPr/>
      </dsp:nvSpPr>
      <dsp:spPr>
        <a:xfrm>
          <a:off x="8065796" y="234644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Problema:</a:t>
          </a:r>
          <a:endParaRPr lang="en-US" sz="1500" kern="1200"/>
        </a:p>
      </dsp:txBody>
      <dsp:txXfrm>
        <a:off x="8099963" y="268811"/>
        <a:ext cx="1768725" cy="1098199"/>
      </dsp:txXfrm>
    </dsp:sp>
    <dsp:sp modelId="{786D491C-531A-4E8A-BC33-1CD692495B1C}">
      <dsp:nvSpPr>
        <dsp:cNvPr id="0" name=""/>
        <dsp:cNvSpPr/>
      </dsp:nvSpPr>
      <dsp:spPr>
        <a:xfrm>
          <a:off x="7861678" y="1741543"/>
          <a:ext cx="1837059" cy="1166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63265A-B70F-4B0D-8745-236541DF1F64}">
      <dsp:nvSpPr>
        <dsp:cNvPr id="0" name=""/>
        <dsp:cNvSpPr/>
      </dsp:nvSpPr>
      <dsp:spPr>
        <a:xfrm>
          <a:off x="8065796" y="1935455"/>
          <a:ext cx="1837059" cy="116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Mucho de donde elegir, decisión basada en experiencia subjetiva.</a:t>
          </a:r>
          <a:endParaRPr lang="en-US" sz="1500" kern="1200"/>
        </a:p>
      </dsp:txBody>
      <dsp:txXfrm>
        <a:off x="8099963" y="1969622"/>
        <a:ext cx="1768725" cy="1098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62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47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600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12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31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417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44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85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4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47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7573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0277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326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349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17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9986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77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FC945-5973-42DE-BDEB-D775EE58454D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8A05-92D7-4F6D-AFF9-17B77B9D45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078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ogisticRegression.html" TargetMode="External"/><Relationship Id="rId2" Type="http://schemas.openxmlformats.org/officeDocument/2006/relationships/hyperlink" Target="https://www.sciencedirec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ensemble.RandomForestClassifier.html" TargetMode="External"/><Relationship Id="rId4" Type="http://schemas.openxmlformats.org/officeDocument/2006/relationships/hyperlink" Target="https://scikit-learn.org/stable/modules/generated/sklearn.svm.LinearSVC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A0FA2-12F2-A6AC-B6DB-0A499AC4D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Sistema </a:t>
            </a:r>
            <a:r>
              <a:rPr lang="es-ES" dirty="0" err="1"/>
              <a:t>recomendador</a:t>
            </a:r>
            <a:r>
              <a:rPr lang="es-ES" dirty="0"/>
              <a:t> de revistas científicas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556A1-712B-7D4F-6053-95AB2EC11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Autor: Santiago Santana Martínez</a:t>
            </a:r>
          </a:p>
          <a:p>
            <a:r>
              <a:rPr lang="es-ES" dirty="0"/>
              <a:t>Asignatura: Ciencia de datos en ingeniería</a:t>
            </a:r>
          </a:p>
        </p:txBody>
      </p:sp>
    </p:spTree>
    <p:extLst>
      <p:ext uri="{BB962C8B-B14F-4D97-AF65-F5344CB8AC3E}">
        <p14:creationId xmlns:p14="http://schemas.microsoft.com/office/powerpoint/2010/main" val="382915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25E57-F256-DB5C-4F3E-FFF23D872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ES" dirty="0"/>
              <a:t>motivación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AE9BCE9-5F17-5A0A-936E-4835BB7907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981460"/>
              </p:ext>
            </p:extLst>
          </p:nvPr>
        </p:nvGraphicFramePr>
        <p:xfrm>
          <a:off x="1141413" y="2418820"/>
          <a:ext cx="99060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890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27995-F7A4-9837-352B-A9650A0D3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 del Trabajo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B08020-8125-522C-39F6-5C56362A0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Desarrollar un </a:t>
            </a:r>
            <a:r>
              <a:rPr lang="es-ES" sz="2000" b="1" dirty="0"/>
              <a:t>sistema inteligente</a:t>
            </a:r>
            <a:r>
              <a:rPr lang="es-ES" sz="2000" dirty="0"/>
              <a:t> que:</a:t>
            </a:r>
          </a:p>
          <a:p>
            <a:pPr lvl="1"/>
            <a:r>
              <a:rPr lang="es-ES" dirty="0"/>
              <a:t>Reciba como entrada:</a:t>
            </a:r>
          </a:p>
          <a:p>
            <a:pPr lvl="2"/>
            <a:r>
              <a:rPr lang="es-ES" sz="2000" dirty="0"/>
              <a:t>Título</a:t>
            </a:r>
          </a:p>
          <a:p>
            <a:pPr lvl="2"/>
            <a:r>
              <a:rPr lang="es-ES" sz="2000" dirty="0"/>
              <a:t>Resumen</a:t>
            </a:r>
          </a:p>
          <a:p>
            <a:pPr lvl="2"/>
            <a:r>
              <a:rPr lang="es-ES" sz="2000" dirty="0"/>
              <a:t>Palabras clave</a:t>
            </a:r>
          </a:p>
          <a:p>
            <a:pPr lvl="1"/>
            <a:r>
              <a:rPr lang="es-ES" dirty="0"/>
              <a:t>Recomiende automáticamente:</a:t>
            </a:r>
          </a:p>
          <a:p>
            <a:pPr lvl="2"/>
            <a:r>
              <a:rPr lang="es-ES" sz="2000" dirty="0"/>
              <a:t>La revista más adecuada</a:t>
            </a:r>
          </a:p>
          <a:p>
            <a:pPr marL="0" indent="0">
              <a:buNone/>
            </a:pPr>
            <a:r>
              <a:rPr lang="es-ES" sz="1600" dirty="0"/>
              <a:t>El sistema aprende a partir de artículos previamente publicados entre los años 2020 y 2024.</a:t>
            </a:r>
          </a:p>
          <a:p>
            <a:endParaRPr lang="es-ES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49995B79-2634-FB9A-0E89-1138A4F59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488" y="2497756"/>
            <a:ext cx="897635" cy="897635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7EB4243D-2306-6D83-1A8D-5FDD87ACC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445" y="2922089"/>
            <a:ext cx="1013821" cy="1013821"/>
          </a:xfrm>
          <a:prstGeom prst="rect">
            <a:avLst/>
          </a:prstGeom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69296C3B-D5C9-4D87-1EC2-9AA8AC917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901" y="3935910"/>
            <a:ext cx="1036945" cy="1036945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E49A270-E751-5FFD-A9A5-0F8D97596596}"/>
              </a:ext>
            </a:extLst>
          </p:cNvPr>
          <p:cNvCxnSpPr>
            <a:cxnSpLocks/>
            <a:stCxn id="5" idx="0"/>
            <a:endCxn id="7" idx="0"/>
          </p:cNvCxnSpPr>
          <p:nvPr/>
        </p:nvCxnSpPr>
        <p:spPr>
          <a:xfrm rot="16200000" flipH="1">
            <a:off x="7769664" y="1876397"/>
            <a:ext cx="424333" cy="1667050"/>
          </a:xfrm>
          <a:prstGeom prst="bentConnector3">
            <a:avLst>
              <a:gd name="adj1" fmla="val -5387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C3C3666-1C80-234E-F566-BF19601D5750}"/>
              </a:ext>
            </a:extLst>
          </p:cNvPr>
          <p:cNvCxnSpPr>
            <a:cxnSpLocks/>
            <a:stCxn id="7" idx="2"/>
            <a:endCxn id="9" idx="1"/>
          </p:cNvCxnSpPr>
          <p:nvPr/>
        </p:nvCxnSpPr>
        <p:spPr>
          <a:xfrm rot="16200000" flipH="1">
            <a:off x="9196892" y="3554373"/>
            <a:ext cx="518473" cy="1281545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5FE09-37F9-50FA-BBDD-238ADD3E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Enfoques Planteados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08049E-E1F8-9FBC-CFEC-22FF7F60A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566369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Se exploran dos aproximaciones:</a:t>
            </a:r>
          </a:p>
          <a:p>
            <a:r>
              <a:rPr lang="es-ES" b="1" dirty="0"/>
              <a:t>Aproximación clásica</a:t>
            </a:r>
          </a:p>
          <a:p>
            <a:pPr lvl="1"/>
            <a:r>
              <a:rPr lang="es-ES" dirty="0"/>
              <a:t>TF-IDF</a:t>
            </a:r>
          </a:p>
          <a:p>
            <a:pPr lvl="1"/>
            <a:r>
              <a:rPr lang="es-ES" dirty="0"/>
              <a:t>Modelos de clasificación tradicionales</a:t>
            </a:r>
          </a:p>
          <a:p>
            <a:pPr lvl="1"/>
            <a:r>
              <a:rPr lang="es-ES" dirty="0" err="1"/>
              <a:t>Scikit-learn</a:t>
            </a:r>
            <a:endParaRPr lang="es-ES" dirty="0"/>
          </a:p>
          <a:p>
            <a:r>
              <a:rPr lang="es-ES" b="1" dirty="0"/>
              <a:t>Aproximación conexionista</a:t>
            </a:r>
          </a:p>
          <a:p>
            <a:pPr lvl="1"/>
            <a:r>
              <a:rPr lang="es-ES" dirty="0"/>
              <a:t>Word </a:t>
            </a:r>
            <a:r>
              <a:rPr lang="es-ES" dirty="0" err="1"/>
              <a:t>embeddings</a:t>
            </a:r>
            <a:endParaRPr lang="es-ES" dirty="0"/>
          </a:p>
          <a:p>
            <a:pPr lvl="1"/>
            <a:r>
              <a:rPr lang="es-ES" dirty="0"/>
              <a:t>Redes neuronales recurrentes</a:t>
            </a:r>
          </a:p>
          <a:p>
            <a:pPr lvl="1"/>
            <a:r>
              <a:rPr lang="es-ES" dirty="0" err="1"/>
              <a:t>PyTorch</a:t>
            </a:r>
            <a:r>
              <a:rPr lang="es-ES" dirty="0"/>
              <a:t> + GPU (CUDA)</a:t>
            </a:r>
          </a:p>
          <a:p>
            <a:endParaRPr lang="es-ES" dirty="0"/>
          </a:p>
        </p:txBody>
      </p:sp>
      <p:pic>
        <p:nvPicPr>
          <p:cNvPr id="2050" name="Picture 2" descr="logistic_regression_vs_linear_regression">
            <a:extLst>
              <a:ext uri="{FF2B5EF4-FFF2-40B4-BE49-F238E27FC236}">
                <a16:creationId xmlns:a16="http://schemas.microsoft.com/office/drawing/2014/main" id="{448391D3-5A66-CBB7-D401-750C7B441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70900"/>
            <a:ext cx="2299684" cy="114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upport vector machine - SVM">
            <a:extLst>
              <a:ext uri="{FF2B5EF4-FFF2-40B4-BE49-F238E27FC236}">
                <a16:creationId xmlns:a16="http://schemas.microsoft.com/office/drawing/2014/main" id="{5857AA42-A3DE-B0F5-574E-D504170BA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86" y="3009647"/>
            <a:ext cx="2222196" cy="122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8E91560-735A-6228-34B4-DF4BCF37A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871" y="4673124"/>
            <a:ext cx="2585256" cy="970077"/>
          </a:xfrm>
          <a:prstGeom prst="rect">
            <a:avLst/>
          </a:prstGeom>
        </p:spPr>
      </p:pic>
      <p:pic>
        <p:nvPicPr>
          <p:cNvPr id="9" name="Imagen 8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0B83C242-58D4-94FC-0138-32840AC59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416" y="5462255"/>
            <a:ext cx="2145422" cy="122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A6876-95A1-F3FB-85D2-5A99BEF6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Conjunto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E934C4-BB99-FAC6-5276-FA052626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411" y="1709989"/>
            <a:ext cx="4954587" cy="5010850"/>
          </a:xfrm>
        </p:spPr>
        <p:txBody>
          <a:bodyPr>
            <a:normAutofit fontScale="40000" lnSpcReduction="20000"/>
          </a:bodyPr>
          <a:lstStyle/>
          <a:p>
            <a:r>
              <a:rPr lang="es-ES" sz="4200" dirty="0"/>
              <a:t>Artículos científicos de:</a:t>
            </a:r>
          </a:p>
          <a:p>
            <a:pPr lvl="1"/>
            <a:r>
              <a:rPr lang="es-ES" sz="4200" dirty="0"/>
              <a:t>Expert </a:t>
            </a:r>
            <a:r>
              <a:rPr lang="es-ES" sz="4200" dirty="0" err="1"/>
              <a:t>Systems</a:t>
            </a:r>
            <a:r>
              <a:rPr lang="es-ES" sz="4200" dirty="0"/>
              <a:t> </a:t>
            </a:r>
            <a:r>
              <a:rPr lang="es-ES" sz="4200" dirty="0" err="1"/>
              <a:t>with</a:t>
            </a:r>
            <a:r>
              <a:rPr lang="es-ES" sz="4200" dirty="0"/>
              <a:t> </a:t>
            </a:r>
            <a:r>
              <a:rPr lang="es-ES" sz="4200" dirty="0" err="1"/>
              <a:t>Applications</a:t>
            </a:r>
            <a:r>
              <a:rPr lang="es-ES" sz="4200" dirty="0"/>
              <a:t> (ESA)</a:t>
            </a:r>
          </a:p>
          <a:p>
            <a:pPr lvl="1"/>
            <a:r>
              <a:rPr lang="es-ES" sz="4200" dirty="0" err="1"/>
              <a:t>Pattern</a:t>
            </a:r>
            <a:r>
              <a:rPr lang="es-ES" sz="4200" dirty="0"/>
              <a:t> </a:t>
            </a:r>
            <a:r>
              <a:rPr lang="es-ES" sz="4200" dirty="0" err="1"/>
              <a:t>Recognition</a:t>
            </a:r>
            <a:r>
              <a:rPr lang="es-ES" sz="4200" dirty="0"/>
              <a:t> (PR)</a:t>
            </a:r>
          </a:p>
          <a:p>
            <a:pPr lvl="1"/>
            <a:r>
              <a:rPr lang="es-ES" sz="4200" dirty="0"/>
              <a:t>Neural Networks (NN)</a:t>
            </a:r>
          </a:p>
          <a:p>
            <a:pPr lvl="1"/>
            <a:r>
              <a:rPr lang="es-ES" sz="4200" dirty="0" err="1"/>
              <a:t>Pattern</a:t>
            </a:r>
            <a:r>
              <a:rPr lang="es-ES" sz="4200" dirty="0"/>
              <a:t> </a:t>
            </a:r>
            <a:r>
              <a:rPr lang="es-ES" sz="4200" dirty="0" err="1"/>
              <a:t>Recognition</a:t>
            </a:r>
            <a:r>
              <a:rPr lang="es-ES" sz="4200" dirty="0"/>
              <a:t> </a:t>
            </a:r>
            <a:r>
              <a:rPr lang="es-ES" sz="4200" dirty="0" err="1"/>
              <a:t>Letters</a:t>
            </a:r>
            <a:r>
              <a:rPr lang="es-ES" sz="4200" dirty="0"/>
              <a:t> (PRL)</a:t>
            </a:r>
          </a:p>
          <a:p>
            <a:pPr lvl="1"/>
            <a:r>
              <a:rPr lang="es-ES" sz="4200" dirty="0" err="1"/>
              <a:t>Robotics</a:t>
            </a:r>
            <a:r>
              <a:rPr lang="es-ES" sz="4200" dirty="0"/>
              <a:t> and </a:t>
            </a:r>
            <a:r>
              <a:rPr lang="es-ES" sz="4200" dirty="0" err="1"/>
              <a:t>Autonomous</a:t>
            </a:r>
            <a:r>
              <a:rPr lang="es-ES" sz="4200" dirty="0"/>
              <a:t> </a:t>
            </a:r>
            <a:r>
              <a:rPr lang="es-ES" sz="4200" dirty="0" err="1"/>
              <a:t>Systems</a:t>
            </a:r>
            <a:r>
              <a:rPr lang="es-ES" sz="4200" dirty="0"/>
              <a:t> (RAS)</a:t>
            </a:r>
          </a:p>
          <a:p>
            <a:r>
              <a:rPr lang="es-ES" sz="4200" dirty="0"/>
              <a:t>Información textual:</a:t>
            </a:r>
          </a:p>
          <a:p>
            <a:pPr lvl="1"/>
            <a:r>
              <a:rPr lang="es-ES" sz="4200" dirty="0"/>
              <a:t>Título</a:t>
            </a:r>
          </a:p>
          <a:p>
            <a:pPr lvl="1"/>
            <a:r>
              <a:rPr lang="es-ES" sz="4200" dirty="0" err="1"/>
              <a:t>Abstract</a:t>
            </a:r>
            <a:endParaRPr lang="es-ES" sz="4200" dirty="0"/>
          </a:p>
          <a:p>
            <a:pPr lvl="1"/>
            <a:r>
              <a:rPr lang="es-ES" sz="4200" dirty="0" err="1"/>
              <a:t>Keywords</a:t>
            </a:r>
            <a:endParaRPr lang="es-ES" sz="4200" dirty="0"/>
          </a:p>
          <a:p>
            <a:r>
              <a:rPr lang="es-ES" sz="4200" dirty="0"/>
              <a:t>Etiqueta:</a:t>
            </a:r>
          </a:p>
          <a:p>
            <a:pPr lvl="1"/>
            <a:r>
              <a:rPr lang="es-ES" sz="4200" dirty="0"/>
              <a:t>Revista de publicación</a:t>
            </a:r>
          </a:p>
          <a:p>
            <a:r>
              <a:rPr lang="es-ES" sz="4200" b="1" dirty="0"/>
              <a:t>Problema detectado:</a:t>
            </a:r>
            <a:endParaRPr lang="es-ES" sz="4200" dirty="0"/>
          </a:p>
          <a:p>
            <a:pPr lvl="1"/>
            <a:r>
              <a:rPr lang="es-ES" sz="4200" dirty="0"/>
              <a:t>Fuerte desbalance entre revistas</a:t>
            </a:r>
          </a:p>
          <a:p>
            <a:endParaRPr lang="es-ES" dirty="0"/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DE9FA1D-1DE9-6924-DE9C-F1D724EB6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980" y="2352757"/>
            <a:ext cx="5606832" cy="37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0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D4A1-A03E-64B3-FEE5-483BBC40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Filtrado del </a:t>
            </a:r>
            <a:r>
              <a:rPr lang="es-ES" dirty="0" err="1"/>
              <a:t>Dataset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1A3BD-5672-860D-9445-56FEE06C1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27" y="2202042"/>
            <a:ext cx="5167948" cy="4151313"/>
          </a:xfrm>
        </p:spPr>
        <p:txBody>
          <a:bodyPr>
            <a:normAutofit lnSpcReduction="10000"/>
          </a:bodyPr>
          <a:lstStyle/>
          <a:p>
            <a:r>
              <a:rPr lang="es-ES" dirty="0"/>
              <a:t>Decisión tomada:</a:t>
            </a:r>
          </a:p>
          <a:p>
            <a:pPr lvl="1"/>
            <a:r>
              <a:rPr lang="es-ES" dirty="0"/>
              <a:t>Eliminar revistas con </a:t>
            </a:r>
            <a:r>
              <a:rPr lang="es-ES" b="1" dirty="0"/>
              <a:t>menos de 20 artículos</a:t>
            </a:r>
            <a:endParaRPr lang="es-ES" dirty="0"/>
          </a:p>
          <a:p>
            <a:r>
              <a:rPr lang="es-ES" dirty="0"/>
              <a:t>Motivación:</a:t>
            </a:r>
          </a:p>
          <a:p>
            <a:pPr lvl="1"/>
            <a:r>
              <a:rPr lang="es-ES" dirty="0"/>
              <a:t>Evitar ruido estadístico</a:t>
            </a:r>
          </a:p>
          <a:p>
            <a:pPr lvl="1"/>
            <a:r>
              <a:rPr lang="es-ES" dirty="0"/>
              <a:t>Evaluaciones más estables</a:t>
            </a:r>
          </a:p>
          <a:p>
            <a:pPr lvl="1"/>
            <a:r>
              <a:rPr lang="es-ES" dirty="0"/>
              <a:t>Sin rebalanceo artificial</a:t>
            </a:r>
          </a:p>
          <a:p>
            <a:r>
              <a:rPr lang="es-ES" dirty="0"/>
              <a:t>Resultado:</a:t>
            </a:r>
          </a:p>
          <a:p>
            <a:pPr lvl="1"/>
            <a:r>
              <a:rPr lang="es-ES" dirty="0" err="1"/>
              <a:t>Dataset</a:t>
            </a:r>
            <a:r>
              <a:rPr lang="es-ES" dirty="0"/>
              <a:t> más compacto y representativo</a:t>
            </a:r>
          </a:p>
          <a:p>
            <a:endParaRPr lang="es-ES" dirty="0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AE77932B-2386-FF03-A89C-6E4FD24C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527" y="2431420"/>
            <a:ext cx="5554058" cy="36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96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EBEE1-EE76-60FB-3683-4E7D1C7A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Preprocesamiento del 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F8BDE9-FC9E-0FDA-C445-6C6B16632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954587" cy="398999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Operaciones comunes:</a:t>
            </a:r>
          </a:p>
          <a:p>
            <a:pPr lvl="1"/>
            <a:r>
              <a:rPr lang="es-ES" dirty="0"/>
              <a:t>Minúsculas</a:t>
            </a:r>
          </a:p>
          <a:p>
            <a:pPr lvl="1"/>
            <a:r>
              <a:rPr lang="es-ES" dirty="0"/>
              <a:t>Eliminación de símbolos</a:t>
            </a:r>
          </a:p>
          <a:p>
            <a:pPr lvl="1"/>
            <a:r>
              <a:rPr lang="es-ES" dirty="0"/>
              <a:t>Eliminación de </a:t>
            </a:r>
            <a:r>
              <a:rPr lang="es-ES" dirty="0" err="1"/>
              <a:t>stopwords</a:t>
            </a:r>
            <a:endParaRPr lang="es-ES" dirty="0"/>
          </a:p>
          <a:p>
            <a:pPr lvl="1"/>
            <a:r>
              <a:rPr lang="es-ES" dirty="0" err="1"/>
              <a:t>Tokenización</a:t>
            </a:r>
            <a:endParaRPr lang="es-ES" dirty="0"/>
          </a:p>
          <a:p>
            <a:r>
              <a:rPr lang="es-ES" dirty="0"/>
              <a:t>Variantes evaluadas:</a:t>
            </a:r>
          </a:p>
          <a:p>
            <a:pPr lvl="1"/>
            <a:r>
              <a:rPr lang="es-ES" dirty="0"/>
              <a:t>TF-IDF estándar</a:t>
            </a:r>
          </a:p>
          <a:p>
            <a:pPr lvl="1"/>
            <a:r>
              <a:rPr lang="es-ES" dirty="0"/>
              <a:t>TF-IDF + lematización (NLTK)</a:t>
            </a:r>
          </a:p>
          <a:p>
            <a:pPr marL="0" indent="0">
              <a:buNone/>
            </a:pPr>
            <a:r>
              <a:rPr lang="es-ES" sz="1600" b="1" dirty="0"/>
              <a:t>Hipótesis</a:t>
            </a:r>
            <a:r>
              <a:rPr lang="es-ES" sz="1600" dirty="0"/>
              <a:t>: la lematización podría mejorar generalización</a:t>
            </a:r>
          </a:p>
          <a:p>
            <a:endParaRPr lang="es-ES" dirty="0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19040AD1-2386-4A18-5DFC-CD681E5FE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23" y="2187683"/>
            <a:ext cx="897635" cy="89763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A9396A6-692B-F661-3302-D5FC07C5C01F}"/>
              </a:ext>
            </a:extLst>
          </p:cNvPr>
          <p:cNvSpPr/>
          <p:nvPr/>
        </p:nvSpPr>
        <p:spPr>
          <a:xfrm>
            <a:off x="6809977" y="3855864"/>
            <a:ext cx="1481328" cy="795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Limpieza del texto (TF-IDF)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642418-5D5D-1E2C-D266-68FE6163C31F}"/>
              </a:ext>
            </a:extLst>
          </p:cNvPr>
          <p:cNvSpPr/>
          <p:nvPr/>
        </p:nvSpPr>
        <p:spPr>
          <a:xfrm>
            <a:off x="9412969" y="3855864"/>
            <a:ext cx="1481328" cy="7955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Lematización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3DF82A-74DC-20CC-5AB2-ECDF145C5C29}"/>
              </a:ext>
            </a:extLst>
          </p:cNvPr>
          <p:cNvCxnSpPr>
            <a:cxnSpLocks/>
          </p:cNvCxnSpPr>
          <p:nvPr/>
        </p:nvCxnSpPr>
        <p:spPr>
          <a:xfrm>
            <a:off x="7550641" y="3218688"/>
            <a:ext cx="0" cy="484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68A28CA-DD67-845E-87FB-0CDFF3B079A6}"/>
              </a:ext>
            </a:extLst>
          </p:cNvPr>
          <p:cNvCxnSpPr/>
          <p:nvPr/>
        </p:nvCxnSpPr>
        <p:spPr>
          <a:xfrm>
            <a:off x="8549640" y="4253628"/>
            <a:ext cx="6126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30758B2-2561-2248-DF3F-D54BC4F2039C}"/>
              </a:ext>
            </a:extLst>
          </p:cNvPr>
          <p:cNvCxnSpPr>
            <a:cxnSpLocks/>
          </p:cNvCxnSpPr>
          <p:nvPr/>
        </p:nvCxnSpPr>
        <p:spPr>
          <a:xfrm>
            <a:off x="7550640" y="4687182"/>
            <a:ext cx="672677" cy="596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44ADF684-55A0-F682-BB9C-9D603FF3C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400" y="5165949"/>
            <a:ext cx="851577" cy="851577"/>
          </a:xfrm>
          <a:prstGeom prst="rect">
            <a:avLst/>
          </a:prstGeom>
        </p:spPr>
      </p:pic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AEB8165-7C19-0836-01B8-864995BA9B2B}"/>
              </a:ext>
            </a:extLst>
          </p:cNvPr>
          <p:cNvCxnSpPr>
            <a:cxnSpLocks/>
          </p:cNvCxnSpPr>
          <p:nvPr/>
        </p:nvCxnSpPr>
        <p:spPr>
          <a:xfrm rot="5400000">
            <a:off x="9519008" y="4725234"/>
            <a:ext cx="672677" cy="596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39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E1A68-704A-D4BD-6187-5AA149BB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63EEED-A0B4-34D0-995B-3629F0BF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Entrada: texto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tf-idf</a:t>
            </a:r>
            <a:r>
              <a:rPr lang="es-ES" dirty="0">
                <a:sym typeface="Wingdings" panose="05000000000000000000" pitchFamily="2" charset="2"/>
              </a:rPr>
              <a:t>  representaciones numéricas</a:t>
            </a:r>
          </a:p>
          <a:p>
            <a:r>
              <a:rPr lang="es-ES" dirty="0">
                <a:sym typeface="Wingdings" panose="05000000000000000000" pitchFamily="2" charset="2"/>
              </a:rPr>
              <a:t>Entrada (con </a:t>
            </a:r>
            <a:r>
              <a:rPr lang="es-ES" dirty="0"/>
              <a:t>lematización): Texto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tf-idf</a:t>
            </a:r>
            <a:r>
              <a:rPr lang="es-ES" dirty="0">
                <a:sym typeface="Wingdings" panose="05000000000000000000" pitchFamily="2" charset="2"/>
              </a:rPr>
              <a:t>  </a:t>
            </a:r>
            <a:r>
              <a:rPr lang="es-ES" dirty="0"/>
              <a:t>lematización </a:t>
            </a:r>
            <a:r>
              <a:rPr lang="es-ES" dirty="0">
                <a:sym typeface="Wingdings" panose="05000000000000000000" pitchFamily="2" charset="2"/>
              </a:rPr>
              <a:t> representaciones numéricas</a:t>
            </a:r>
          </a:p>
          <a:p>
            <a:r>
              <a:rPr lang="es-ES" dirty="0"/>
              <a:t>Entrenamiento de modelos clásicos: </a:t>
            </a:r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r>
              <a:rPr lang="es-ES" dirty="0"/>
              <a:t>, linear </a:t>
            </a:r>
            <a:r>
              <a:rPr lang="es-ES" dirty="0" err="1"/>
              <a:t>svc</a:t>
            </a:r>
            <a:r>
              <a:rPr lang="es-ES" dirty="0"/>
              <a:t> y </a:t>
            </a:r>
            <a:r>
              <a:rPr lang="es-ES" dirty="0" err="1"/>
              <a:t>random</a:t>
            </a:r>
            <a:r>
              <a:rPr lang="es-ES" dirty="0"/>
              <a:t> </a:t>
            </a:r>
            <a:r>
              <a:rPr lang="es-ES" dirty="0" err="1"/>
              <a:t>forest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698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06BD2-7E9D-6A84-05E3-902A1A7D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Representación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16A457-DB22-F395-5582-D731208A5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2103"/>
            <a:ext cx="7472235" cy="499589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2000" b="1" dirty="0"/>
              <a:t>TF-IDF (</a:t>
            </a:r>
            <a:r>
              <a:rPr lang="es-ES" sz="2000" b="1" dirty="0" err="1"/>
              <a:t>Term</a:t>
            </a:r>
            <a:r>
              <a:rPr lang="es-ES" sz="2000" b="1" dirty="0"/>
              <a:t> </a:t>
            </a:r>
            <a:r>
              <a:rPr lang="es-ES" sz="2000" b="1" dirty="0" err="1"/>
              <a:t>Frequency</a:t>
            </a:r>
            <a:r>
              <a:rPr lang="es-ES" sz="2000" b="1" dirty="0"/>
              <a:t> – Inverse </a:t>
            </a:r>
            <a:r>
              <a:rPr lang="es-ES" sz="2000" b="1" dirty="0" err="1"/>
              <a:t>Document</a:t>
            </a:r>
            <a:r>
              <a:rPr lang="es-ES" sz="2000" b="1" dirty="0"/>
              <a:t> </a:t>
            </a:r>
            <a:r>
              <a:rPr lang="es-ES" sz="2000" b="1" dirty="0" err="1"/>
              <a:t>Frequency</a:t>
            </a:r>
            <a:r>
              <a:rPr lang="es-ES" sz="2000" b="1" dirty="0"/>
              <a:t>)</a:t>
            </a:r>
            <a:endParaRPr lang="es-ES" sz="2000" dirty="0"/>
          </a:p>
          <a:p>
            <a:pPr lvl="1"/>
            <a:r>
              <a:rPr lang="es-ES" dirty="0"/>
              <a:t>Representa cada documento como un vector de pesos asociados a términos</a:t>
            </a:r>
          </a:p>
          <a:p>
            <a:pPr lvl="1"/>
            <a:r>
              <a:rPr lang="es-ES" dirty="0"/>
              <a:t>Penaliza palabras muy frecuentes en el corpus (</a:t>
            </a:r>
            <a:r>
              <a:rPr lang="es-ES" i="1" dirty="0" err="1"/>
              <a:t>model</a:t>
            </a:r>
            <a:r>
              <a:rPr lang="es-ES" i="1" dirty="0"/>
              <a:t>, data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Resalta términos con alto poder discriminativo entre revistas</a:t>
            </a:r>
          </a:p>
          <a:p>
            <a:pPr>
              <a:buNone/>
            </a:pPr>
            <a:r>
              <a:rPr lang="es-ES" sz="2000" b="1" dirty="0"/>
              <a:t>N-gramas</a:t>
            </a:r>
            <a:endParaRPr lang="es-ES" sz="2000" dirty="0"/>
          </a:p>
          <a:p>
            <a:pPr lvl="1"/>
            <a:r>
              <a:rPr lang="es-ES" dirty="0" err="1"/>
              <a:t>Unigramas</a:t>
            </a:r>
            <a:r>
              <a:rPr lang="es-ES" dirty="0"/>
              <a:t>: </a:t>
            </a:r>
            <a:r>
              <a:rPr lang="es-ES" i="1" dirty="0"/>
              <a:t>(neural, </a:t>
            </a:r>
            <a:r>
              <a:rPr lang="es-ES" i="1" dirty="0" err="1"/>
              <a:t>network</a:t>
            </a:r>
            <a:r>
              <a:rPr lang="es-ES" i="1" dirty="0"/>
              <a:t>, </a:t>
            </a:r>
            <a:r>
              <a:rPr lang="es-ES" i="1" dirty="0" err="1"/>
              <a:t>learning</a:t>
            </a:r>
            <a:r>
              <a:rPr lang="es-ES" i="1" dirty="0"/>
              <a:t>, </a:t>
            </a:r>
            <a:r>
              <a:rPr lang="es-ES" i="1" dirty="0" err="1"/>
              <a:t>vision</a:t>
            </a:r>
            <a:r>
              <a:rPr lang="es-ES" i="1" dirty="0"/>
              <a:t>)</a:t>
            </a:r>
            <a:endParaRPr lang="es-ES" dirty="0"/>
          </a:p>
          <a:p>
            <a:pPr lvl="1"/>
            <a:r>
              <a:rPr lang="es-ES" dirty="0" err="1"/>
              <a:t>Bigramas</a:t>
            </a:r>
            <a:r>
              <a:rPr lang="es-ES" dirty="0"/>
              <a:t>: </a:t>
            </a:r>
            <a:r>
              <a:rPr lang="es-ES" i="1" dirty="0"/>
              <a:t>(neural </a:t>
            </a:r>
            <a:r>
              <a:rPr lang="es-ES" i="1" dirty="0" err="1"/>
              <a:t>network</a:t>
            </a:r>
            <a:r>
              <a:rPr lang="es-ES" i="1" dirty="0"/>
              <a:t>, </a:t>
            </a:r>
            <a:r>
              <a:rPr lang="es-ES" i="1" dirty="0" err="1"/>
              <a:t>computer</a:t>
            </a:r>
            <a:r>
              <a:rPr lang="es-ES" i="1" dirty="0"/>
              <a:t> </a:t>
            </a:r>
            <a:r>
              <a:rPr lang="es-ES" i="1" dirty="0" err="1"/>
              <a:t>vision</a:t>
            </a:r>
            <a:r>
              <a:rPr lang="es-ES" i="1" dirty="0"/>
              <a:t>, </a:t>
            </a:r>
            <a:r>
              <a:rPr lang="es-ES" i="1" dirty="0" err="1"/>
              <a:t>pattern</a:t>
            </a:r>
            <a:r>
              <a:rPr lang="es-ES" i="1" dirty="0"/>
              <a:t> </a:t>
            </a:r>
            <a:r>
              <a:rPr lang="es-ES" i="1" dirty="0" err="1"/>
              <a:t>recognition</a:t>
            </a:r>
            <a:r>
              <a:rPr lang="es-ES" i="1" dirty="0"/>
              <a:t>)</a:t>
            </a:r>
            <a:endParaRPr lang="es-ES" dirty="0"/>
          </a:p>
          <a:p>
            <a:pPr lvl="1"/>
            <a:r>
              <a:rPr lang="es-ES" dirty="0"/>
              <a:t>Mejoran la capacidad del modelo para distinguir dominios científicos cercanos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06F92A-5339-785D-2509-D9D3D52BFD06}"/>
              </a:ext>
            </a:extLst>
          </p:cNvPr>
          <p:cNvSpPr txBox="1"/>
          <p:nvPr/>
        </p:nvSpPr>
        <p:spPr>
          <a:xfrm>
            <a:off x="7472235" y="1862103"/>
            <a:ext cx="4453000" cy="403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Representación resultante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Espacio vectorial de alta dimensión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Matriz muy dispersa (</a:t>
            </a:r>
            <a:r>
              <a:rPr kumimoji="0" lang="es-E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sparse</a:t>
            </a: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Adecuada para modelos lineales como SVM o Regresión Logística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Ventaja</a:t>
            </a: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Representación simple, eficiente y altamente informativa para clasificación de texto</a:t>
            </a:r>
          </a:p>
        </p:txBody>
      </p:sp>
    </p:spTree>
    <p:extLst>
      <p:ext uri="{BB962C8B-B14F-4D97-AF65-F5344CB8AC3E}">
        <p14:creationId xmlns:p14="http://schemas.microsoft.com/office/powerpoint/2010/main" val="80168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9433E-EA81-1A37-1956-0766C168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Modelos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DACD68-1325-2A37-67EF-9873B95E5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4847908" cy="4261042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Modelos entrenados:</a:t>
            </a:r>
          </a:p>
          <a:p>
            <a:pPr lvl="1"/>
            <a:r>
              <a:rPr lang="es-ES" sz="2400" dirty="0" err="1"/>
              <a:t>Logistic</a:t>
            </a:r>
            <a:r>
              <a:rPr lang="es-ES" sz="2400" dirty="0"/>
              <a:t> </a:t>
            </a:r>
            <a:r>
              <a:rPr lang="es-ES" sz="2400" dirty="0" err="1"/>
              <a:t>Regression</a:t>
            </a:r>
            <a:endParaRPr lang="es-ES" sz="2400" dirty="0"/>
          </a:p>
          <a:p>
            <a:pPr lvl="1"/>
            <a:r>
              <a:rPr lang="es-ES" sz="2400" dirty="0"/>
              <a:t>Linear SVC</a:t>
            </a:r>
          </a:p>
          <a:p>
            <a:pPr lvl="1"/>
            <a:r>
              <a:rPr lang="es-ES" sz="2400" dirty="0" err="1"/>
              <a:t>Random</a:t>
            </a:r>
            <a:r>
              <a:rPr lang="es-ES" sz="2400" dirty="0"/>
              <a:t> Forest</a:t>
            </a:r>
          </a:p>
          <a:p>
            <a:r>
              <a:rPr lang="es-ES" dirty="0"/>
              <a:t>Cada uno evaluado:</a:t>
            </a:r>
          </a:p>
          <a:p>
            <a:pPr lvl="1"/>
            <a:r>
              <a:rPr lang="es-ES" sz="2400" dirty="0"/>
              <a:t>Con lematización</a:t>
            </a:r>
          </a:p>
          <a:p>
            <a:pPr lvl="1"/>
            <a:r>
              <a:rPr lang="es-ES" sz="2400" dirty="0"/>
              <a:t>Sin lematización</a:t>
            </a:r>
          </a:p>
          <a:p>
            <a:r>
              <a:rPr lang="es-ES" dirty="0"/>
              <a:t>Evaluación:</a:t>
            </a:r>
          </a:p>
          <a:p>
            <a:pPr lvl="1"/>
            <a:r>
              <a:rPr lang="es-ES" sz="2400" dirty="0"/>
              <a:t>Validación cruzada estratificada (CV)</a:t>
            </a:r>
          </a:p>
          <a:p>
            <a:pPr lvl="1"/>
            <a:r>
              <a:rPr lang="es-ES" sz="2400" dirty="0"/>
              <a:t>Test independiente</a:t>
            </a:r>
          </a:p>
          <a:p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48C2E7-4F59-F0CB-A375-07F9844573DE}"/>
              </a:ext>
            </a:extLst>
          </p:cNvPr>
          <p:cNvSpPr/>
          <p:nvPr/>
        </p:nvSpPr>
        <p:spPr>
          <a:xfrm>
            <a:off x="8293608" y="2249486"/>
            <a:ext cx="1188720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E391D45-5941-C131-3548-A676AF106FCA}"/>
              </a:ext>
            </a:extLst>
          </p:cNvPr>
          <p:cNvSpPr/>
          <p:nvPr/>
        </p:nvSpPr>
        <p:spPr>
          <a:xfrm>
            <a:off x="6856159" y="3061837"/>
            <a:ext cx="1188720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CV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F3507E-8AFE-9A91-EFFB-716A21861B9A}"/>
              </a:ext>
            </a:extLst>
          </p:cNvPr>
          <p:cNvSpPr/>
          <p:nvPr/>
        </p:nvSpPr>
        <p:spPr>
          <a:xfrm>
            <a:off x="9594851" y="3061837"/>
            <a:ext cx="1188720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Test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0DFE27B-BB28-75C7-4572-2633CE621FA4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7450520" y="2555809"/>
            <a:ext cx="843089" cy="50602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7">
            <a:extLst>
              <a:ext uri="{FF2B5EF4-FFF2-40B4-BE49-F238E27FC236}">
                <a16:creationId xmlns:a16="http://schemas.microsoft.com/office/drawing/2014/main" id="{B958805E-EFE6-E8A4-0878-E6B6D39D7160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9482328" y="2555810"/>
            <a:ext cx="706883" cy="50602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7A8EF0E-1D2C-BFB0-F231-6F5EEE7FFD0C}"/>
              </a:ext>
            </a:extLst>
          </p:cNvPr>
          <p:cNvSpPr/>
          <p:nvPr/>
        </p:nvSpPr>
        <p:spPr>
          <a:xfrm>
            <a:off x="6782465" y="4110351"/>
            <a:ext cx="1348804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Rendimiento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8FBC12-6827-9405-1EDC-FB631C435F9D}"/>
              </a:ext>
            </a:extLst>
          </p:cNvPr>
          <p:cNvSpPr/>
          <p:nvPr/>
        </p:nvSpPr>
        <p:spPr>
          <a:xfrm>
            <a:off x="9521158" y="4102728"/>
            <a:ext cx="1348804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Rendimiento</a:t>
            </a:r>
          </a:p>
        </p:txBody>
      </p:sp>
      <p:cxnSp>
        <p:nvCxnSpPr>
          <p:cNvPr id="15" name="Conector recto de flecha 7">
            <a:extLst>
              <a:ext uri="{FF2B5EF4-FFF2-40B4-BE49-F238E27FC236}">
                <a16:creationId xmlns:a16="http://schemas.microsoft.com/office/drawing/2014/main" id="{1C411471-71E0-4481-E60D-ABA5B5F7647A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7235760" y="3889244"/>
            <a:ext cx="435866" cy="634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mbo 18">
            <a:extLst>
              <a:ext uri="{FF2B5EF4-FFF2-40B4-BE49-F238E27FC236}">
                <a16:creationId xmlns:a16="http://schemas.microsoft.com/office/drawing/2014/main" id="{46163436-965D-44CF-8A77-97EAFDCACCCA}"/>
              </a:ext>
            </a:extLst>
          </p:cNvPr>
          <p:cNvSpPr/>
          <p:nvPr/>
        </p:nvSpPr>
        <p:spPr>
          <a:xfrm>
            <a:off x="8375904" y="4741226"/>
            <a:ext cx="1024128" cy="704088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0" name="Conector recto de flecha 7">
            <a:extLst>
              <a:ext uri="{FF2B5EF4-FFF2-40B4-BE49-F238E27FC236}">
                <a16:creationId xmlns:a16="http://schemas.microsoft.com/office/drawing/2014/main" id="{26C93B26-AA95-BC87-75E8-9B5B6C50E29A}"/>
              </a:ext>
            </a:extLst>
          </p:cNvPr>
          <p:cNvCxnSpPr>
            <a:cxnSpLocks/>
            <a:stCxn id="13" idx="2"/>
            <a:endCxn id="19" idx="1"/>
          </p:cNvCxnSpPr>
          <p:nvPr/>
        </p:nvCxnSpPr>
        <p:spPr>
          <a:xfrm rot="16200000" flipH="1">
            <a:off x="7731250" y="4448615"/>
            <a:ext cx="370271" cy="91903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7">
            <a:extLst>
              <a:ext uri="{FF2B5EF4-FFF2-40B4-BE49-F238E27FC236}">
                <a16:creationId xmlns:a16="http://schemas.microsoft.com/office/drawing/2014/main" id="{EAF95E13-AD2F-9CA9-CD9F-4FAFDAECF9CF}"/>
              </a:ext>
            </a:extLst>
          </p:cNvPr>
          <p:cNvCxnSpPr>
            <a:cxnSpLocks/>
            <a:stCxn id="14" idx="2"/>
            <a:endCxn id="19" idx="3"/>
          </p:cNvCxnSpPr>
          <p:nvPr/>
        </p:nvCxnSpPr>
        <p:spPr>
          <a:xfrm rot="5400000">
            <a:off x="9608849" y="4506559"/>
            <a:ext cx="377894" cy="79552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7">
            <a:extLst>
              <a:ext uri="{FF2B5EF4-FFF2-40B4-BE49-F238E27FC236}">
                <a16:creationId xmlns:a16="http://schemas.microsoft.com/office/drawing/2014/main" id="{AFB4B9B1-FF68-D165-540D-E15AE3361C83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9978264" y="3885431"/>
            <a:ext cx="428243" cy="6349"/>
          </a:xfrm>
          <a:prstGeom prst="bentConnector3">
            <a:avLst>
              <a:gd name="adj1" fmla="val 10124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676A9C66-4721-0637-0198-5598BDE778EB}"/>
              </a:ext>
            </a:extLst>
          </p:cNvPr>
          <p:cNvSpPr/>
          <p:nvPr/>
        </p:nvSpPr>
        <p:spPr>
          <a:xfrm>
            <a:off x="8293608" y="5897880"/>
            <a:ext cx="1188720" cy="6126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Decisión</a:t>
            </a:r>
          </a:p>
        </p:txBody>
      </p:sp>
      <p:cxnSp>
        <p:nvCxnSpPr>
          <p:cNvPr id="57" name="Conector recto de flecha 7">
            <a:extLst>
              <a:ext uri="{FF2B5EF4-FFF2-40B4-BE49-F238E27FC236}">
                <a16:creationId xmlns:a16="http://schemas.microsoft.com/office/drawing/2014/main" id="{EBBF4039-60BF-744B-9D9F-FE5527E079E3}"/>
              </a:ext>
            </a:extLst>
          </p:cNvPr>
          <p:cNvCxnSpPr>
            <a:cxnSpLocks/>
            <a:stCxn id="19" idx="2"/>
            <a:endCxn id="56" idx="0"/>
          </p:cNvCxnSpPr>
          <p:nvPr/>
        </p:nvCxnSpPr>
        <p:spPr>
          <a:xfrm rot="5400000">
            <a:off x="8661685" y="5671597"/>
            <a:ext cx="452566" cy="12700"/>
          </a:xfrm>
          <a:prstGeom prst="bentConnector3">
            <a:avLst>
              <a:gd name="adj1" fmla="val 9041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034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D4F09-C641-2B41-3E2F-3181CC86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Modelos (configuración)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DE409DC-8918-6C28-09C0-E48705011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20919"/>
              </p:ext>
            </p:extLst>
          </p:nvPr>
        </p:nvGraphicFramePr>
        <p:xfrm>
          <a:off x="2030412" y="2521204"/>
          <a:ext cx="81280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791659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20248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Logistic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Regression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max_iter</a:t>
                      </a:r>
                      <a:r>
                        <a:rPr lang="es-ES" dirty="0"/>
                        <a:t>=1000</a:t>
                      </a:r>
                    </a:p>
                    <a:p>
                      <a:pPr algn="ctr"/>
                      <a:r>
                        <a:rPr lang="es-ES" dirty="0" err="1"/>
                        <a:t>class_weight</a:t>
                      </a:r>
                      <a:r>
                        <a:rPr lang="es-ES" dirty="0"/>
                        <a:t>=“</a:t>
                      </a:r>
                      <a:r>
                        <a:rPr lang="es-ES" dirty="0" err="1"/>
                        <a:t>balanced</a:t>
                      </a:r>
                      <a:r>
                        <a:rPr lang="es-ES" dirty="0"/>
                        <a:t>”</a:t>
                      </a:r>
                    </a:p>
                    <a:p>
                      <a:pPr algn="ctr"/>
                      <a:r>
                        <a:rPr lang="es-ES" dirty="0" err="1"/>
                        <a:t>n_jobs</a:t>
                      </a:r>
                      <a:r>
                        <a:rPr lang="es-ES" dirty="0"/>
                        <a:t>=-1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28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Linear 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class_weight</a:t>
                      </a:r>
                      <a:r>
                        <a:rPr lang="es-ES" dirty="0"/>
                        <a:t>=“</a:t>
                      </a:r>
                      <a:r>
                        <a:rPr lang="es-ES" dirty="0" err="1"/>
                        <a:t>balanced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55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Random</a:t>
                      </a:r>
                      <a:r>
                        <a:rPr lang="es-ES" dirty="0"/>
                        <a:t>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n_estimators</a:t>
                      </a:r>
                      <a:r>
                        <a:rPr lang="es-ES" dirty="0"/>
                        <a:t>=300</a:t>
                      </a:r>
                    </a:p>
                    <a:p>
                      <a:pPr algn="ctr"/>
                      <a:r>
                        <a:rPr lang="es-ES" dirty="0" err="1"/>
                        <a:t>random_state</a:t>
                      </a:r>
                      <a:r>
                        <a:rPr lang="es-ES" dirty="0"/>
                        <a:t>=42</a:t>
                      </a:r>
                    </a:p>
                    <a:p>
                      <a:pPr algn="ctr"/>
                      <a:r>
                        <a:rPr lang="es-ES" dirty="0" err="1"/>
                        <a:t>class_weight</a:t>
                      </a:r>
                      <a:r>
                        <a:rPr lang="es-ES" dirty="0"/>
                        <a:t>=“</a:t>
                      </a:r>
                      <a:r>
                        <a:rPr lang="es-ES" dirty="0" err="1"/>
                        <a:t>balanced</a:t>
                      </a:r>
                      <a:r>
                        <a:rPr lang="es-ES" dirty="0"/>
                        <a:t>”</a:t>
                      </a:r>
                    </a:p>
                    <a:p>
                      <a:pPr algn="ctr"/>
                      <a:r>
                        <a:rPr lang="es-ES" dirty="0" err="1"/>
                        <a:t>n_jobs</a:t>
                      </a:r>
                      <a:r>
                        <a:rPr lang="es-ES" dirty="0"/>
                        <a:t>=-1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61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0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9262A-291C-3176-45C9-E12444FB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Resultados Validación Cruzada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075E5D2-534F-B303-CC1F-9A7D4D95A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13" y="2097088"/>
            <a:ext cx="4467849" cy="3258005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73A1B78D-89A3-300C-FE79-7ED725AE3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2097088"/>
            <a:ext cx="5232856" cy="32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EA8C1-8865-8200-B2F2-2F58D692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Resultados (Test)</a:t>
            </a:r>
          </a:p>
        </p:txBody>
      </p:sp>
      <p:pic>
        <p:nvPicPr>
          <p:cNvPr id="5" name="Imagen 4" descr="Calendario&#10;&#10;El contenido generado por IA puede ser incorrecto.">
            <a:extLst>
              <a:ext uri="{FF2B5EF4-FFF2-40B4-BE49-F238E27FC236}">
                <a16:creationId xmlns:a16="http://schemas.microsoft.com/office/drawing/2014/main" id="{18216521-8B38-46DA-FCEE-7C5FEE632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6" y="2097088"/>
            <a:ext cx="3079413" cy="2071733"/>
          </a:xfrm>
          <a:prstGeom prst="rect">
            <a:avLst/>
          </a:prstGeom>
        </p:spPr>
      </p:pic>
      <p:pic>
        <p:nvPicPr>
          <p:cNvPr id="7" name="Imagen 6" descr="Calendario&#10;&#10;El contenido generado por IA puede ser incorrecto.">
            <a:extLst>
              <a:ext uri="{FF2B5EF4-FFF2-40B4-BE49-F238E27FC236}">
                <a16:creationId xmlns:a16="http://schemas.microsoft.com/office/drawing/2014/main" id="{72EEC696-753D-1F3B-08A7-D4DC54C18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88" y="2097088"/>
            <a:ext cx="3033858" cy="2071732"/>
          </a:xfrm>
          <a:prstGeom prst="rect">
            <a:avLst/>
          </a:prstGeom>
        </p:spPr>
      </p:pic>
      <p:pic>
        <p:nvPicPr>
          <p:cNvPr id="9" name="Imagen 8" descr="Calendario&#10;&#10;El contenido generado por IA puede ser incorrecto.">
            <a:extLst>
              <a:ext uri="{FF2B5EF4-FFF2-40B4-BE49-F238E27FC236}">
                <a16:creationId xmlns:a16="http://schemas.microsoft.com/office/drawing/2014/main" id="{5E4760D2-7DAD-EADC-2FC7-2298BA61A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196" y="2097087"/>
            <a:ext cx="3019215" cy="2071733"/>
          </a:xfrm>
          <a:prstGeom prst="rect">
            <a:avLst/>
          </a:prstGeom>
        </p:spPr>
      </p:pic>
      <p:pic>
        <p:nvPicPr>
          <p:cNvPr id="11" name="Imagen 10" descr="Calendario&#10;&#10;El contenido generado por IA puede ser incorrecto.">
            <a:extLst>
              <a:ext uri="{FF2B5EF4-FFF2-40B4-BE49-F238E27FC236}">
                <a16:creationId xmlns:a16="http://schemas.microsoft.com/office/drawing/2014/main" id="{666C4B03-0E75-217D-D5F8-3C43D1D31D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6" y="4612060"/>
            <a:ext cx="3056011" cy="2070662"/>
          </a:xfrm>
          <a:prstGeom prst="rect">
            <a:avLst/>
          </a:prstGeom>
        </p:spPr>
      </p:pic>
      <p:pic>
        <p:nvPicPr>
          <p:cNvPr id="13" name="Imagen 12" descr="Calendario&#10;&#10;El contenido generado por IA puede ser incorrecto.">
            <a:extLst>
              <a:ext uri="{FF2B5EF4-FFF2-40B4-BE49-F238E27FC236}">
                <a16:creationId xmlns:a16="http://schemas.microsoft.com/office/drawing/2014/main" id="{8A8C9B88-F435-8234-C3B9-C4C43AFB6D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88" y="4610989"/>
            <a:ext cx="3033858" cy="2081367"/>
          </a:xfrm>
          <a:prstGeom prst="rect">
            <a:avLst/>
          </a:prstGeom>
        </p:spPr>
      </p:pic>
      <p:pic>
        <p:nvPicPr>
          <p:cNvPr id="15" name="Imagen 14" descr="Calendario&#10;&#10;El contenido generado por IA puede ser incorrecto.">
            <a:extLst>
              <a:ext uri="{FF2B5EF4-FFF2-40B4-BE49-F238E27FC236}">
                <a16:creationId xmlns:a16="http://schemas.microsoft.com/office/drawing/2014/main" id="{73CB5876-CA1E-80DC-2FFF-DC33E77791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196" y="4610990"/>
            <a:ext cx="3019215" cy="207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46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9F99-C5C2-9B43-4EB2-88D8DE7D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decisión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0E6F1-B808-A4D1-8BD3-5C2E43EE8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26" y="2075370"/>
            <a:ext cx="5122228" cy="1600137"/>
          </a:xfrm>
        </p:spPr>
        <p:txBody>
          <a:bodyPr>
            <a:normAutofit/>
          </a:bodyPr>
          <a:lstStyle/>
          <a:p>
            <a:r>
              <a:rPr lang="es-ES" sz="2000" dirty="0"/>
              <a:t>Linear SVM obtiene mejor rendimiento medio</a:t>
            </a:r>
          </a:p>
          <a:p>
            <a:r>
              <a:rPr lang="es-ES" sz="2000" dirty="0"/>
              <a:t>Resultados estables</a:t>
            </a:r>
          </a:p>
          <a:p>
            <a:pPr lvl="1"/>
            <a:r>
              <a:rPr lang="es-ES" dirty="0"/>
              <a:t>Lematización: impacto nulo o negativo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E34CC92-E78C-B706-8F12-C82E22355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551" y="3675507"/>
            <a:ext cx="3570378" cy="2603559"/>
          </a:xfrm>
          <a:prstGeom prst="rect">
            <a:avLst/>
          </a:prstGeom>
        </p:spPr>
      </p:pic>
      <p:pic>
        <p:nvPicPr>
          <p:cNvPr id="5" name="Imagen 4" descr="Calendario&#10;&#10;El contenido generado por IA puede ser incorrecto.">
            <a:extLst>
              <a:ext uri="{FF2B5EF4-FFF2-40B4-BE49-F238E27FC236}">
                <a16:creationId xmlns:a16="http://schemas.microsoft.com/office/drawing/2014/main" id="{83D5D34E-AE1E-D572-C30C-EB92508E5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101" y="3675507"/>
            <a:ext cx="3812669" cy="26035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87472DC-7EC4-EA4B-6E92-40DACAB78589}"/>
              </a:ext>
            </a:extLst>
          </p:cNvPr>
          <p:cNvSpPr/>
          <p:nvPr/>
        </p:nvSpPr>
        <p:spPr>
          <a:xfrm>
            <a:off x="1623559" y="4581417"/>
            <a:ext cx="2987020" cy="770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06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E51F8-9150-1B52-A1C9-A5542229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 : Matrices de Confusión (SVM)</a:t>
            </a:r>
          </a:p>
        </p:txBody>
      </p:sp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F7672352-0A57-3C9A-CD51-1877679C9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20" y="2097088"/>
            <a:ext cx="5156423" cy="4411732"/>
          </a:xfrm>
          <a:prstGeom prst="rect">
            <a:avLst/>
          </a:prstGeom>
        </p:spPr>
      </p:pic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EFADDDF-43D5-1E29-8B10-C2603429C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159" y="2097088"/>
            <a:ext cx="5163026" cy="441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9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45E1F-84ED-2463-CF62-C8712DE0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Clásica: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83A94-B4CA-A68E-D739-3C3F42C1B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41242"/>
            <a:ext cx="3613467" cy="2770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 dirty="0"/>
              <a:t>TF-IDF</a:t>
            </a:r>
          </a:p>
          <a:p>
            <a:pPr lvl="1"/>
            <a:r>
              <a:rPr lang="es-ES" dirty="0"/>
              <a:t>Representación suficientemente buena</a:t>
            </a:r>
          </a:p>
          <a:p>
            <a:pPr marL="0" indent="0">
              <a:buNone/>
            </a:pPr>
            <a:r>
              <a:rPr lang="es-ES" sz="2000" b="1" dirty="0"/>
              <a:t>Lematización</a:t>
            </a:r>
          </a:p>
          <a:p>
            <a:pPr lvl="1"/>
            <a:r>
              <a:rPr lang="es-ES" dirty="0"/>
              <a:t>Para este caso concreto, no parece aportar mejoras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192C70-A53D-03BD-7DDF-AB4E98C9BB78}"/>
              </a:ext>
            </a:extLst>
          </p:cNvPr>
          <p:cNvSpPr txBox="1"/>
          <p:nvPr/>
        </p:nvSpPr>
        <p:spPr>
          <a:xfrm>
            <a:off x="5282052" y="1841242"/>
            <a:ext cx="66142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000" b="1" dirty="0"/>
              <a:t>Regresión Logística + TF-IDF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Rendimiento estable (≈ 68% </a:t>
            </a:r>
            <a:r>
              <a:rPr lang="es-ES" sz="2000" dirty="0" err="1"/>
              <a:t>accuracy</a:t>
            </a:r>
            <a:r>
              <a:rPr lang="es-ES" sz="2000" dirty="0"/>
              <a:t>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Buen compromiso simplicidad–resultado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Limitada para separar clases semánticamente cercanas</a:t>
            </a:r>
          </a:p>
          <a:p>
            <a:pPr>
              <a:buNone/>
            </a:pPr>
            <a:r>
              <a:rPr lang="es-ES" sz="2000" b="1" dirty="0" err="1"/>
              <a:t>Random</a:t>
            </a:r>
            <a:r>
              <a:rPr lang="es-ES" sz="2000" b="1" dirty="0"/>
              <a:t> Forest + TF-IDF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Buen rendimiento en clases mayoritarias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Bajo </a:t>
            </a:r>
            <a:r>
              <a:rPr lang="es-ES" sz="2000" i="1" dirty="0" err="1"/>
              <a:t>recall</a:t>
            </a:r>
            <a:r>
              <a:rPr lang="es-ES" sz="2000" dirty="0"/>
              <a:t> en revistas minoritarias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Sesgo claro debido a alta dimensionalidad y </a:t>
            </a:r>
            <a:r>
              <a:rPr lang="es-ES" sz="2000" dirty="0" err="1"/>
              <a:t>sparsity</a:t>
            </a:r>
            <a:endParaRPr lang="es-ES" sz="2000" dirty="0"/>
          </a:p>
          <a:p>
            <a:pPr>
              <a:buNone/>
            </a:pPr>
            <a:r>
              <a:rPr lang="es-ES" sz="2000" b="1" dirty="0"/>
              <a:t>Linear SVC + TF-IDF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Mejor rendimiento global (≈ 71–72% </a:t>
            </a:r>
            <a:r>
              <a:rPr lang="es-ES" sz="2000" dirty="0" err="1"/>
              <a:t>accuracy</a:t>
            </a:r>
            <a:r>
              <a:rPr lang="es-ES" sz="2000" dirty="0"/>
              <a:t>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Mayor estabilidad entre validación cruzada y test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s-ES" sz="2000" dirty="0"/>
              <a:t> Mejor separación entre revistas similares</a:t>
            </a:r>
          </a:p>
          <a:p>
            <a:pPr>
              <a:buNone/>
            </a:pPr>
            <a:r>
              <a:rPr lang="es-ES" sz="2000" b="1" dirty="0"/>
              <a:t>Conclusión</a:t>
            </a:r>
          </a:p>
          <a:p>
            <a:pPr algn="just">
              <a:buNone/>
            </a:pPr>
            <a:r>
              <a:rPr lang="es-ES" sz="2000" dirty="0"/>
              <a:t>Linear SVC + TF-IDF es el modelo clásico ganador, ofreciendo el mejor equilibrio entre rendimiento, estabilidad y coste computacional.</a:t>
            </a:r>
          </a:p>
        </p:txBody>
      </p:sp>
    </p:spTree>
    <p:extLst>
      <p:ext uri="{BB962C8B-B14F-4D97-AF65-F5344CB8AC3E}">
        <p14:creationId xmlns:p14="http://schemas.microsoft.com/office/powerpoint/2010/main" val="1149892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EF5CB-FE16-B993-194E-43921EEC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68E25-35BB-A186-AD46-6F4A0AEC3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Entrada: Texto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Tokenización</a:t>
            </a:r>
            <a:r>
              <a:rPr lang="es-ES" dirty="0">
                <a:sym typeface="Wingdings" panose="05000000000000000000" pitchFamily="2" charset="2"/>
              </a:rPr>
              <a:t>  tokens  word2vec  secuencias numéricas</a:t>
            </a:r>
          </a:p>
          <a:p>
            <a:r>
              <a:rPr lang="es-ES" dirty="0">
                <a:sym typeface="Wingdings" panose="05000000000000000000" pitchFamily="2" charset="2"/>
              </a:rPr>
              <a:t>Arquitectura: </a:t>
            </a:r>
            <a:r>
              <a:rPr lang="es-ES" dirty="0" err="1">
                <a:sym typeface="Wingdings" panose="05000000000000000000" pitchFamily="2" charset="2"/>
              </a:rPr>
              <a:t>embeddings</a:t>
            </a:r>
            <a:r>
              <a:rPr lang="es-ES" dirty="0">
                <a:sym typeface="Wingdings" panose="05000000000000000000" pitchFamily="2" charset="2"/>
              </a:rPr>
              <a:t>  </a:t>
            </a:r>
            <a:r>
              <a:rPr lang="es-ES" dirty="0" err="1">
                <a:sym typeface="Wingdings" panose="05000000000000000000" pitchFamily="2" charset="2"/>
              </a:rPr>
              <a:t>lstm</a:t>
            </a:r>
            <a:r>
              <a:rPr lang="es-ES" dirty="0">
                <a:sym typeface="Wingdings" panose="05000000000000000000" pitchFamily="2" charset="2"/>
              </a:rPr>
              <a:t>  capa de clasificación</a:t>
            </a:r>
          </a:p>
          <a:p>
            <a:r>
              <a:rPr lang="es-ES" dirty="0">
                <a:sym typeface="Wingdings" panose="05000000000000000000" pitchFamily="2" charset="2"/>
              </a:rPr>
              <a:t>Entrenado en </a:t>
            </a:r>
            <a:r>
              <a:rPr lang="es-ES" dirty="0" err="1">
                <a:sym typeface="Wingdings" panose="05000000000000000000" pitchFamily="2" charset="2"/>
              </a:rPr>
              <a:t>pytorch</a:t>
            </a:r>
            <a:r>
              <a:rPr lang="es-ES" dirty="0">
                <a:sym typeface="Wingdings" panose="05000000000000000000" pitchFamily="2" charset="2"/>
              </a:rPr>
              <a:t> con </a:t>
            </a:r>
            <a:r>
              <a:rPr lang="es-ES" dirty="0" err="1">
                <a:sym typeface="Wingdings" panose="05000000000000000000" pitchFamily="2" charset="2"/>
              </a:rPr>
              <a:t>cuda</a:t>
            </a:r>
            <a:r>
              <a:rPr lang="es-ES" dirty="0">
                <a:sym typeface="Wingdings" panose="05000000000000000000" pitchFamily="2" charset="2"/>
              </a:rPr>
              <a:t> 13.1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016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26452-673E-981C-C8D7-7FA4665B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Representación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5D619-A909-1093-AFC5-69B017A93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5" y="2091056"/>
            <a:ext cx="4537012" cy="2249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 dirty="0" err="1"/>
              <a:t>Dataset</a:t>
            </a:r>
            <a:r>
              <a:rPr lang="es-ES" sz="2000" b="1" dirty="0"/>
              <a:t> empleado</a:t>
            </a:r>
          </a:p>
          <a:p>
            <a:pPr lvl="1"/>
            <a:r>
              <a:rPr lang="es-ES" dirty="0"/>
              <a:t>Mismo </a:t>
            </a:r>
            <a:r>
              <a:rPr lang="es-ES" dirty="0" err="1"/>
              <a:t>dataset</a:t>
            </a:r>
            <a:r>
              <a:rPr lang="es-ES" dirty="0"/>
              <a:t> que el usado en los modelos clásicos</a:t>
            </a:r>
          </a:p>
          <a:p>
            <a:pPr lvl="1"/>
            <a:r>
              <a:rPr lang="es-ES" dirty="0"/>
              <a:t>División del conjunto en 80% entrenamiento y 20% validación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FB1FB3-2BA5-ED0E-B0C6-F24961121402}"/>
              </a:ext>
            </a:extLst>
          </p:cNvPr>
          <p:cNvSpPr txBox="1"/>
          <p:nvPr/>
        </p:nvSpPr>
        <p:spPr>
          <a:xfrm>
            <a:off x="4637597" y="2091056"/>
            <a:ext cx="75544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000" b="1" dirty="0" err="1"/>
              <a:t>Tokenización</a:t>
            </a:r>
            <a:r>
              <a:rPr lang="es-ES" sz="2000" b="1" dirty="0"/>
              <a:t> simple</a:t>
            </a:r>
            <a:endParaRPr lang="es-E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Conversión del texto a minúsculas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Eliminación de signos de puntuación y caracteres especiales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Separación del texto en secuencias de palabras</a:t>
            </a:r>
          </a:p>
          <a:p>
            <a:pPr>
              <a:buNone/>
            </a:pPr>
            <a:r>
              <a:rPr lang="es-ES" sz="2000" b="1" dirty="0"/>
              <a:t>Word2Vec</a:t>
            </a:r>
            <a:endParaRPr lang="es-E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Entrenamiento sobre el corpus de artículos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Esquema </a:t>
            </a:r>
            <a:r>
              <a:rPr lang="es-ES" sz="2000" i="1" dirty="0" err="1"/>
              <a:t>Skip-gram</a:t>
            </a:r>
            <a:r>
              <a:rPr lang="es-ES" sz="2000" dirty="0"/>
              <a:t> para capturar relaciones semánticas locales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Aprende representaciones vectoriales de las palabras</a:t>
            </a:r>
          </a:p>
          <a:p>
            <a:pPr>
              <a:buNone/>
            </a:pPr>
            <a:r>
              <a:rPr lang="es-ES" sz="2000" b="1" dirty="0"/>
              <a:t>Construcción de la matriz de </a:t>
            </a:r>
            <a:r>
              <a:rPr lang="es-ES" sz="2000" b="1" dirty="0" err="1"/>
              <a:t>embeddings</a:t>
            </a:r>
            <a:endParaRPr lang="es-E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Cada palabra se representa como un vector numérico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Se genera una matriz vocabulario × dimensión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Esta matriz inicializa la capa de </a:t>
            </a:r>
            <a:r>
              <a:rPr lang="es-ES" sz="2000" dirty="0" err="1"/>
              <a:t>embeddings</a:t>
            </a:r>
            <a:r>
              <a:rPr lang="es-ES" sz="2000" dirty="0"/>
              <a:t> del modelo neuronal</a:t>
            </a:r>
          </a:p>
          <a:p>
            <a:pPr>
              <a:buNone/>
            </a:pPr>
            <a:r>
              <a:rPr lang="es-ES" sz="2000" b="1" dirty="0"/>
              <a:t>Resultado</a:t>
            </a:r>
            <a:endParaRPr lang="es-E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Representación distribuida del texto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Entrada semántica para el modelo </a:t>
            </a:r>
            <a:r>
              <a:rPr lang="es-ES" sz="2000" dirty="0" err="1"/>
              <a:t>BiLSTM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318726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61C89-D82F-A60D-5561-3F83C0A3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arquitectura (</a:t>
            </a:r>
            <a:r>
              <a:rPr lang="es-ES" dirty="0" err="1"/>
              <a:t>bilstm</a:t>
            </a:r>
            <a:r>
              <a:rPr lang="es-ES" dirty="0"/>
              <a:t>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AF9F35-C5EE-4F35-3D33-B7D3161A5033}"/>
              </a:ext>
            </a:extLst>
          </p:cNvPr>
          <p:cNvSpPr/>
          <p:nvPr/>
        </p:nvSpPr>
        <p:spPr>
          <a:xfrm>
            <a:off x="224857" y="3081527"/>
            <a:ext cx="991295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TOKENS</a:t>
            </a:r>
          </a:p>
        </p:txBody>
      </p:sp>
      <p:sp>
        <p:nvSpPr>
          <p:cNvPr id="5" name="Trapecio 4">
            <a:extLst>
              <a:ext uri="{FF2B5EF4-FFF2-40B4-BE49-F238E27FC236}">
                <a16:creationId xmlns:a16="http://schemas.microsoft.com/office/drawing/2014/main" id="{17467AD0-059A-834C-3E62-13519416196A}"/>
              </a:ext>
            </a:extLst>
          </p:cNvPr>
          <p:cNvSpPr/>
          <p:nvPr/>
        </p:nvSpPr>
        <p:spPr>
          <a:xfrm rot="5400000">
            <a:off x="1723968" y="2715769"/>
            <a:ext cx="1563624" cy="128930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Trapecio 5">
            <a:extLst>
              <a:ext uri="{FF2B5EF4-FFF2-40B4-BE49-F238E27FC236}">
                <a16:creationId xmlns:a16="http://schemas.microsoft.com/office/drawing/2014/main" id="{8A9E7E4A-D536-C9D1-25CF-BE889D19FEE9}"/>
              </a:ext>
            </a:extLst>
          </p:cNvPr>
          <p:cNvSpPr/>
          <p:nvPr/>
        </p:nvSpPr>
        <p:spPr>
          <a:xfrm rot="5400000">
            <a:off x="3083441" y="2715770"/>
            <a:ext cx="1563624" cy="128930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D45BD4-8E74-16A9-07AD-D83AA3BE5B4C}"/>
              </a:ext>
            </a:extLst>
          </p:cNvPr>
          <p:cNvSpPr/>
          <p:nvPr/>
        </p:nvSpPr>
        <p:spPr>
          <a:xfrm>
            <a:off x="5131198" y="3150108"/>
            <a:ext cx="991295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HIDDEN STATES</a:t>
            </a:r>
          </a:p>
        </p:txBody>
      </p:sp>
      <p:sp>
        <p:nvSpPr>
          <p:cNvPr id="8" name="Trapecio 7">
            <a:extLst>
              <a:ext uri="{FF2B5EF4-FFF2-40B4-BE49-F238E27FC236}">
                <a16:creationId xmlns:a16="http://schemas.microsoft.com/office/drawing/2014/main" id="{8A03BEDA-E6AA-B4FD-0AA9-F0FA1604C109}"/>
              </a:ext>
            </a:extLst>
          </p:cNvPr>
          <p:cNvSpPr/>
          <p:nvPr/>
        </p:nvSpPr>
        <p:spPr>
          <a:xfrm rot="5400000">
            <a:off x="8258699" y="2715766"/>
            <a:ext cx="1563624" cy="128930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F6C077-9D51-6B40-2FF3-81E0C58718EC}"/>
              </a:ext>
            </a:extLst>
          </p:cNvPr>
          <p:cNvSpPr/>
          <p:nvPr/>
        </p:nvSpPr>
        <p:spPr>
          <a:xfrm>
            <a:off x="6751734" y="3150108"/>
            <a:ext cx="1077310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CONCAT</a:t>
            </a:r>
          </a:p>
        </p:txBody>
      </p:sp>
      <p:sp>
        <p:nvSpPr>
          <p:cNvPr id="10" name="Trapecio 9">
            <a:extLst>
              <a:ext uri="{FF2B5EF4-FFF2-40B4-BE49-F238E27FC236}">
                <a16:creationId xmlns:a16="http://schemas.microsoft.com/office/drawing/2014/main" id="{3A29C076-C1D3-6CE8-2256-12268EFEAE05}"/>
              </a:ext>
            </a:extLst>
          </p:cNvPr>
          <p:cNvSpPr/>
          <p:nvPr/>
        </p:nvSpPr>
        <p:spPr>
          <a:xfrm rot="5400000">
            <a:off x="9603549" y="2715766"/>
            <a:ext cx="1563624" cy="128930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998685-CDC9-8CD9-D8ED-2707F4DB297F}"/>
              </a:ext>
            </a:extLst>
          </p:cNvPr>
          <p:cNvSpPr txBox="1"/>
          <p:nvPr/>
        </p:nvSpPr>
        <p:spPr>
          <a:xfrm>
            <a:off x="1826044" y="3037253"/>
            <a:ext cx="135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EMBEDDING LAYER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1808A4-3E01-A7B9-3800-C799FAC41981}"/>
              </a:ext>
            </a:extLst>
          </p:cNvPr>
          <p:cNvSpPr txBox="1"/>
          <p:nvPr/>
        </p:nvSpPr>
        <p:spPr>
          <a:xfrm>
            <a:off x="3051228" y="2992981"/>
            <a:ext cx="162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LSTM (Bidireccional)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20B199-406E-CBF8-2EB4-0890EF2A5013}"/>
              </a:ext>
            </a:extLst>
          </p:cNvPr>
          <p:cNvSpPr txBox="1"/>
          <p:nvPr/>
        </p:nvSpPr>
        <p:spPr>
          <a:xfrm>
            <a:off x="8360775" y="3037254"/>
            <a:ext cx="135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DROPOUT LAYER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339D19-0314-8112-1CDB-BB71C88575E0}"/>
              </a:ext>
            </a:extLst>
          </p:cNvPr>
          <p:cNvSpPr txBox="1"/>
          <p:nvPr/>
        </p:nvSpPr>
        <p:spPr>
          <a:xfrm>
            <a:off x="9675328" y="2992981"/>
            <a:ext cx="1420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FULLY CONNECTED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2369E1E-EEF5-45CD-ACAB-68D804FE65B0}"/>
              </a:ext>
            </a:extLst>
          </p:cNvPr>
          <p:cNvCxnSpPr/>
          <p:nvPr/>
        </p:nvCxnSpPr>
        <p:spPr>
          <a:xfrm>
            <a:off x="1362456" y="3360417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BEBFD71-BB70-CE8B-7C0B-36B47A8646C6}"/>
              </a:ext>
            </a:extLst>
          </p:cNvPr>
          <p:cNvCxnSpPr/>
          <p:nvPr/>
        </p:nvCxnSpPr>
        <p:spPr>
          <a:xfrm>
            <a:off x="4679280" y="3421377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AB6BF2E-B507-3623-B423-FFDF69A3DA2D}"/>
              </a:ext>
            </a:extLst>
          </p:cNvPr>
          <p:cNvCxnSpPr/>
          <p:nvPr/>
        </p:nvCxnSpPr>
        <p:spPr>
          <a:xfrm>
            <a:off x="6276432" y="3429000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9E19157-B947-C35C-90FE-E5828B089554}"/>
              </a:ext>
            </a:extLst>
          </p:cNvPr>
          <p:cNvCxnSpPr/>
          <p:nvPr/>
        </p:nvCxnSpPr>
        <p:spPr>
          <a:xfrm>
            <a:off x="7986360" y="3436617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43F22E3-D800-18A4-4DBA-AE3DF688873C}"/>
              </a:ext>
            </a:extLst>
          </p:cNvPr>
          <p:cNvSpPr/>
          <p:nvPr/>
        </p:nvSpPr>
        <p:spPr>
          <a:xfrm>
            <a:off x="1362456" y="5372098"/>
            <a:ext cx="1458621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Valores no normalizados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5E05A58-D399-3E95-83BA-0801451D8B4A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 flipH="1">
            <a:off x="1362456" y="3316147"/>
            <a:ext cx="9732937" cy="2334843"/>
          </a:xfrm>
          <a:prstGeom prst="bentConnector5">
            <a:avLst>
              <a:gd name="adj1" fmla="val -2349"/>
              <a:gd name="adj2" fmla="val 50948"/>
              <a:gd name="adj3" fmla="val 10441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0CCE1CB-E73B-2FCE-6B69-0A89C754E07C}"/>
              </a:ext>
            </a:extLst>
          </p:cNvPr>
          <p:cNvCxnSpPr/>
          <p:nvPr/>
        </p:nvCxnSpPr>
        <p:spPr>
          <a:xfrm>
            <a:off x="2976697" y="5650990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B4F4BCC-FFC1-8EBC-99D5-00F41B02E9AD}"/>
              </a:ext>
            </a:extLst>
          </p:cNvPr>
          <p:cNvSpPr/>
          <p:nvPr/>
        </p:nvSpPr>
        <p:spPr>
          <a:xfrm>
            <a:off x="3470473" y="5361294"/>
            <a:ext cx="1188242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Softmax</a:t>
            </a:r>
            <a:endParaRPr lang="es-ES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41BD2E01-CC02-14FB-4FBF-DAF982F8C1FC}"/>
              </a:ext>
            </a:extLst>
          </p:cNvPr>
          <p:cNvCxnSpPr/>
          <p:nvPr/>
        </p:nvCxnSpPr>
        <p:spPr>
          <a:xfrm>
            <a:off x="4853016" y="5650990"/>
            <a:ext cx="3474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4F7A331-144E-CEDE-2335-35EE96F8F8C6}"/>
              </a:ext>
            </a:extLst>
          </p:cNvPr>
          <p:cNvSpPr/>
          <p:nvPr/>
        </p:nvSpPr>
        <p:spPr>
          <a:xfrm>
            <a:off x="5394789" y="5361294"/>
            <a:ext cx="1188242" cy="5577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Predicción</a:t>
            </a:r>
          </a:p>
        </p:txBody>
      </p:sp>
    </p:spTree>
    <p:extLst>
      <p:ext uri="{BB962C8B-B14F-4D97-AF65-F5344CB8AC3E}">
        <p14:creationId xmlns:p14="http://schemas.microsoft.com/office/powerpoint/2010/main" val="3799566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9525D-FBE0-3170-745C-D2C67AD8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8004"/>
            <a:ext cx="9905998" cy="1478570"/>
          </a:xfrm>
        </p:spPr>
        <p:txBody>
          <a:bodyPr/>
          <a:lstStyle/>
          <a:p>
            <a:r>
              <a:rPr lang="es-ES" dirty="0"/>
              <a:t>Aproximación conexionista: configuración de la 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8CF00B72-C2EC-8C31-B47F-19FADC78E0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141413"/>
                  </p:ext>
                </p:extLst>
              </p:nvPr>
            </p:nvGraphicFramePr>
            <p:xfrm>
              <a:off x="2432240" y="1514278"/>
              <a:ext cx="7324344" cy="51236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3739568966"/>
                        </a:ext>
                      </a:extLst>
                    </a:gridCol>
                    <a:gridCol w="2642680">
                      <a:extLst>
                        <a:ext uri="{9D8B030D-6E8A-4147-A177-3AD203B41FA5}">
                          <a16:colId xmlns:a16="http://schemas.microsoft.com/office/drawing/2014/main" val="2059493661"/>
                        </a:ext>
                      </a:extLst>
                    </a:gridCol>
                    <a:gridCol w="2240216">
                      <a:extLst>
                        <a:ext uri="{9D8B030D-6E8A-4147-A177-3AD203B41FA5}">
                          <a16:colId xmlns:a16="http://schemas.microsoft.com/office/drawing/2014/main" val="1915870450"/>
                        </a:ext>
                      </a:extLst>
                    </a:gridCol>
                  </a:tblGrid>
                  <a:tr h="2549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Categoría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Tipo de Parámetro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Valor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385257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Representación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Embedding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Word2Vec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5821160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Dimensión de </a:t>
                          </a:r>
                          <a:r>
                            <a:rPr lang="es-ES" dirty="0" err="1"/>
                            <a:t>Embedding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3447482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Entrada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Longitud Máxima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300 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918237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Arquitectura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Tipo de 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LSTM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890193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Dimensión Oculta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2431559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Direccionalidad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Bidireccional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7562900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Regularización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Dropout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0,5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467982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Weight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Decay</a:t>
                          </a:r>
                          <a:r>
                            <a:rPr lang="es-ES" dirty="0"/>
                            <a:t> (L2)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083389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Entrenamiento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Función de Pérdida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Cross-</a:t>
                          </a:r>
                          <a:r>
                            <a:rPr lang="es-ES" dirty="0" err="1"/>
                            <a:t>Entropy</a:t>
                          </a:r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297290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Optimizador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8829922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Batch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Size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746573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Épocas Máximas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748264"/>
                      </a:ext>
                    </a:extLst>
                  </a:tr>
                  <a:tr h="2549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Early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Stopping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Sí (</a:t>
                          </a:r>
                          <a:r>
                            <a:rPr lang="es-ES" dirty="0" err="1"/>
                            <a:t>patience</a:t>
                          </a:r>
                          <a:r>
                            <a:rPr lang="es-ES" dirty="0"/>
                            <a:t> = 10)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48390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8CF00B72-C2EC-8C31-B47F-19FADC78E0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141413"/>
                  </p:ext>
                </p:extLst>
              </p:nvPr>
            </p:nvGraphicFramePr>
            <p:xfrm>
              <a:off x="2432240" y="1514278"/>
              <a:ext cx="7324344" cy="51236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3739568966"/>
                        </a:ext>
                      </a:extLst>
                    </a:gridCol>
                    <a:gridCol w="2642680">
                      <a:extLst>
                        <a:ext uri="{9D8B030D-6E8A-4147-A177-3AD203B41FA5}">
                          <a16:colId xmlns:a16="http://schemas.microsoft.com/office/drawing/2014/main" val="2059493661"/>
                        </a:ext>
                      </a:extLst>
                    </a:gridCol>
                    <a:gridCol w="2240216">
                      <a:extLst>
                        <a:ext uri="{9D8B030D-6E8A-4147-A177-3AD203B41FA5}">
                          <a16:colId xmlns:a16="http://schemas.microsoft.com/office/drawing/2014/main" val="191587045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Categoría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Tipo de Parámetro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dirty="0"/>
                            <a:t>Valor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3852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Representación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Embedding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Word2Vec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58211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Dimensión de </a:t>
                          </a:r>
                          <a:r>
                            <a:rPr lang="es-ES" dirty="0" err="1"/>
                            <a:t>Embedding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34474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Entrada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Longitud Máxima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300 tokens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9182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Arquitectura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Tipo de 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LSTM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8901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Dimensión Oculta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24315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Direccionalidad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Bidireccional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75629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Regularización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Dropout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0,5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467982"/>
                      </a:ext>
                    </a:extLst>
                  </a:tr>
                  <a:tr h="368808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Weight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Decay</a:t>
                          </a:r>
                          <a:r>
                            <a:rPr lang="es-ES" dirty="0"/>
                            <a:t> (L2)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227174" t="-795082" r="-1087" b="-5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90833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Entrenamiento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Función de Pérdida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Cross-</a:t>
                          </a:r>
                          <a:r>
                            <a:rPr lang="es-ES" dirty="0" err="1"/>
                            <a:t>Entropy</a:t>
                          </a:r>
                          <a:endParaRPr lang="es-E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2972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Optimizador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88299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Batch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Size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7465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/>
                            <a:t>Épocas Máximas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7482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/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s-ES" dirty="0" err="1"/>
                            <a:t>Early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Stopping</a:t>
                          </a:r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Sí (</a:t>
                          </a:r>
                          <a:r>
                            <a:rPr lang="es-ES" dirty="0" err="1"/>
                            <a:t>patience</a:t>
                          </a:r>
                          <a:r>
                            <a:rPr lang="es-ES" dirty="0"/>
                            <a:t> = 10)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48390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148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F811-770C-AB73-B691-D0A3C08B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evolución del entrenamiento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1D6A209-6B67-DB63-BCF4-A29FDFFCC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22" y="2278055"/>
            <a:ext cx="4983490" cy="3630175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17BC99E-1454-495E-C250-5BCBDBEAE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089" y="2278055"/>
            <a:ext cx="4983490" cy="36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64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E7375-E320-C11B-DDD9-A5006D4C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Resultados evaluación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480EA3-689B-7F53-B92C-D7884F3D6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89715"/>
            <a:ext cx="3668332" cy="1478570"/>
          </a:xfrm>
        </p:spPr>
        <p:txBody>
          <a:bodyPr>
            <a:normAutofit/>
          </a:bodyPr>
          <a:lstStyle/>
          <a:p>
            <a:r>
              <a:rPr lang="es-ES" sz="2000" dirty="0" err="1"/>
              <a:t>Accuracy</a:t>
            </a:r>
            <a:r>
              <a:rPr lang="es-ES" sz="2000" dirty="0"/>
              <a:t> test ≈ 71%</a:t>
            </a:r>
          </a:p>
          <a:p>
            <a:r>
              <a:rPr lang="es-ES" sz="2000" dirty="0"/>
              <a:t>Comparable a modelos clásicos</a:t>
            </a:r>
          </a:p>
          <a:p>
            <a:r>
              <a:rPr lang="es-ES" sz="2000" dirty="0"/>
              <a:t>Tendencia clara al sobreajuste</a:t>
            </a:r>
          </a:p>
        </p:txBody>
      </p:sp>
      <p:pic>
        <p:nvPicPr>
          <p:cNvPr id="6" name="Imagen 5" descr="Calendario&#10;&#10;El contenido generado por IA puede ser incorrecto.">
            <a:extLst>
              <a:ext uri="{FF2B5EF4-FFF2-40B4-BE49-F238E27FC236}">
                <a16:creationId xmlns:a16="http://schemas.microsoft.com/office/drawing/2014/main" id="{1720CF96-02DC-A7A5-853B-9109480D9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03" y="2152936"/>
            <a:ext cx="4531108" cy="25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75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052C9-1FC5-D337-DE19-91B5724D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matriz de confusión</a:t>
            </a:r>
          </a:p>
        </p:txBody>
      </p:sp>
      <p:pic>
        <p:nvPicPr>
          <p:cNvPr id="5" name="Imagen 4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4B3DE129-639C-E0EA-BAED-BEE15E304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2097088"/>
            <a:ext cx="5045247" cy="428114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0FF3344-1F17-A512-15D6-2E36201BE9D9}"/>
              </a:ext>
            </a:extLst>
          </p:cNvPr>
          <p:cNvSpPr txBox="1"/>
          <p:nvPr/>
        </p:nvSpPr>
        <p:spPr>
          <a:xfrm>
            <a:off x="1052341" y="3429000"/>
            <a:ext cx="4887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Expert </a:t>
            </a:r>
            <a:r>
              <a:rPr lang="es-ES" dirty="0" err="1"/>
              <a:t>Systems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Applications</a:t>
            </a:r>
            <a:r>
              <a:rPr lang="es-ES" dirty="0"/>
              <a:t>     </a:t>
            </a:r>
            <a:r>
              <a:rPr lang="es-ES" dirty="0">
                <a:sym typeface="Wingdings" panose="05000000000000000000" pitchFamily="2" charset="2"/>
              </a:rPr>
              <a:t>  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ym typeface="Wingdings" panose="05000000000000000000" pitchFamily="2" charset="2"/>
              </a:rPr>
              <a:t>Neural Networks       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ym typeface="Wingdings" panose="05000000000000000000" pitchFamily="2" charset="2"/>
              </a:rPr>
              <a:t>Pattern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Recognition</a:t>
            </a:r>
            <a:r>
              <a:rPr lang="es-ES" dirty="0">
                <a:sym typeface="Wingdings" panose="05000000000000000000" pitchFamily="2" charset="2"/>
              </a:rPr>
              <a:t>       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ym typeface="Wingdings" panose="05000000000000000000" pitchFamily="2" charset="2"/>
              </a:rPr>
              <a:t>Pattern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Recognition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Letters</a:t>
            </a:r>
            <a:r>
              <a:rPr lang="es-ES" dirty="0">
                <a:sym typeface="Wingdings" panose="05000000000000000000" pitchFamily="2" charset="2"/>
              </a:rPr>
              <a:t>       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ym typeface="Wingdings" panose="05000000000000000000" pitchFamily="2" charset="2"/>
              </a:rPr>
              <a:t>Robotic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Auotonomous</a:t>
            </a: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dirty="0" err="1">
                <a:sym typeface="Wingdings" panose="05000000000000000000" pitchFamily="2" charset="2"/>
              </a:rPr>
              <a:t>Systems</a:t>
            </a:r>
            <a:r>
              <a:rPr lang="es-ES" dirty="0">
                <a:sym typeface="Wingdings" panose="05000000000000000000" pitchFamily="2" charset="2"/>
              </a:rPr>
              <a:t>        4</a:t>
            </a:r>
            <a:endParaRPr lang="es-ES" dirty="0"/>
          </a:p>
        </p:txBody>
      </p:sp>
      <p:pic>
        <p:nvPicPr>
          <p:cNvPr id="9" name="Gráfico 8" descr="Flecha derecha con relleno sólido">
            <a:extLst>
              <a:ext uri="{FF2B5EF4-FFF2-40B4-BE49-F238E27FC236}">
                <a16:creationId xmlns:a16="http://schemas.microsoft.com/office/drawing/2014/main" id="{8B71542C-2D4B-A17B-BDD2-4AD2824F0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227" y="3451886"/>
            <a:ext cx="369332" cy="369332"/>
          </a:xfrm>
          <a:prstGeom prst="rect">
            <a:avLst/>
          </a:prstGeom>
        </p:spPr>
      </p:pic>
      <p:pic>
        <p:nvPicPr>
          <p:cNvPr id="10" name="Gráfico 9" descr="Flecha derecha con relleno sólido">
            <a:extLst>
              <a:ext uri="{FF2B5EF4-FFF2-40B4-BE49-F238E27FC236}">
                <a16:creationId xmlns:a16="http://schemas.microsoft.com/office/drawing/2014/main" id="{CEBC3909-C33E-625E-2B1D-88723EBAB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3430" y="3702737"/>
            <a:ext cx="369332" cy="369332"/>
          </a:xfrm>
          <a:prstGeom prst="rect">
            <a:avLst/>
          </a:prstGeom>
        </p:spPr>
      </p:pic>
      <p:pic>
        <p:nvPicPr>
          <p:cNvPr id="11" name="Gráfico 10" descr="Flecha derecha con relleno sólido">
            <a:extLst>
              <a:ext uri="{FF2B5EF4-FFF2-40B4-BE49-F238E27FC236}">
                <a16:creationId xmlns:a16="http://schemas.microsoft.com/office/drawing/2014/main" id="{5A92954D-9498-25DA-6453-B71BFC287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8096" y="4016558"/>
            <a:ext cx="369332" cy="369332"/>
          </a:xfrm>
          <a:prstGeom prst="rect">
            <a:avLst/>
          </a:prstGeom>
        </p:spPr>
      </p:pic>
      <p:pic>
        <p:nvPicPr>
          <p:cNvPr id="12" name="Gráfico 11" descr="Flecha derecha con relleno sólido">
            <a:extLst>
              <a:ext uri="{FF2B5EF4-FFF2-40B4-BE49-F238E27FC236}">
                <a16:creationId xmlns:a16="http://schemas.microsoft.com/office/drawing/2014/main" id="{D163F9AE-82C3-B688-EC52-367F98E8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3799" y="4269542"/>
            <a:ext cx="369332" cy="369332"/>
          </a:xfrm>
          <a:prstGeom prst="rect">
            <a:avLst/>
          </a:prstGeom>
        </p:spPr>
      </p:pic>
      <p:pic>
        <p:nvPicPr>
          <p:cNvPr id="13" name="Gráfico 12" descr="Flecha derecha con relleno sólido">
            <a:extLst>
              <a:ext uri="{FF2B5EF4-FFF2-40B4-BE49-F238E27FC236}">
                <a16:creationId xmlns:a16="http://schemas.microsoft.com/office/drawing/2014/main" id="{6A53B14A-95E2-BD3D-7C65-2A92CED4C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3292" y="4562256"/>
            <a:ext cx="36933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83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71B3D-4B1B-CF5C-45C2-23CF502C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Aproximación conexionista: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8E4232-3E2F-45DB-FE94-6F4EFA59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5" y="2097088"/>
            <a:ext cx="6768147" cy="38373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ES" sz="2000" b="1" dirty="0"/>
              <a:t>Modelo </a:t>
            </a:r>
            <a:r>
              <a:rPr lang="es-ES" sz="2000" b="1" dirty="0" err="1"/>
              <a:t>BiLSTM</a:t>
            </a:r>
            <a:r>
              <a:rPr lang="es-ES" sz="2000" b="1" dirty="0"/>
              <a:t> + Word2Vec</a:t>
            </a:r>
          </a:p>
          <a:p>
            <a:pPr lvl="1"/>
            <a:r>
              <a:rPr lang="es-ES" dirty="0"/>
              <a:t>Capaz de capturar orden y contexto semántico del texto</a:t>
            </a:r>
          </a:p>
          <a:p>
            <a:pPr lvl="1"/>
            <a:r>
              <a:rPr lang="es-ES" dirty="0"/>
              <a:t>Representación distribuida aprendida específicamente del dominio</a:t>
            </a:r>
          </a:p>
          <a:p>
            <a:pPr lvl="1"/>
            <a:r>
              <a:rPr lang="es-ES" dirty="0"/>
              <a:t>Rendimiento competitivo: ≈ 71% </a:t>
            </a:r>
            <a:r>
              <a:rPr lang="es-ES" dirty="0" err="1"/>
              <a:t>accuracy</a:t>
            </a:r>
            <a:endParaRPr lang="es-ES" dirty="0"/>
          </a:p>
          <a:p>
            <a:pPr>
              <a:buNone/>
            </a:pPr>
            <a:r>
              <a:rPr lang="es-ES" sz="2000" b="1" dirty="0"/>
              <a:t>Regularización</a:t>
            </a:r>
          </a:p>
          <a:p>
            <a:pPr lvl="1"/>
            <a:r>
              <a:rPr lang="es-ES" dirty="0" err="1"/>
              <a:t>Dropout</a:t>
            </a:r>
            <a:r>
              <a:rPr lang="es-ES" dirty="0"/>
              <a:t>, </a:t>
            </a:r>
            <a:r>
              <a:rPr lang="es-ES" dirty="0" err="1"/>
              <a:t>weight</a:t>
            </a:r>
            <a:r>
              <a:rPr lang="es-ES" dirty="0"/>
              <a:t> </a:t>
            </a:r>
            <a:r>
              <a:rPr lang="es-ES" dirty="0" err="1"/>
              <a:t>decay</a:t>
            </a:r>
            <a:r>
              <a:rPr lang="es-ES" dirty="0"/>
              <a:t> y </a:t>
            </a:r>
            <a:r>
              <a:rPr lang="es-ES" dirty="0" err="1"/>
              <a:t>early</a:t>
            </a:r>
            <a:r>
              <a:rPr lang="es-ES" dirty="0"/>
              <a:t> </a:t>
            </a:r>
            <a:r>
              <a:rPr lang="es-ES" dirty="0" err="1"/>
              <a:t>stopping</a:t>
            </a:r>
            <a:r>
              <a:rPr lang="es-ES" dirty="0"/>
              <a:t> necesarios</a:t>
            </a:r>
          </a:p>
          <a:p>
            <a:pPr lvl="1"/>
            <a:r>
              <a:rPr lang="es-ES" dirty="0"/>
              <a:t>Evidente tendencia al sobreajuste sin regularización</a:t>
            </a:r>
          </a:p>
          <a:p>
            <a:pPr lvl="1"/>
            <a:r>
              <a:rPr lang="es-ES" dirty="0"/>
              <a:t>Entrenamiento sensible a </a:t>
            </a:r>
            <a:r>
              <a:rPr lang="es-ES" dirty="0" err="1"/>
              <a:t>hiperparámetros</a:t>
            </a:r>
            <a:endParaRPr lang="es-ES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3587CE-88EE-44C7-00CA-AE61297A5789}"/>
              </a:ext>
            </a:extLst>
          </p:cNvPr>
          <p:cNvSpPr txBox="1"/>
          <p:nvPr/>
        </p:nvSpPr>
        <p:spPr>
          <a:xfrm>
            <a:off x="6839712" y="2097088"/>
            <a:ext cx="51572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000" b="1" dirty="0"/>
              <a:t>Comparación con modelos clásicos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No supera claramente a Linear SVM + TF-IDF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Mayor coste computacional y complejidad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2000" dirty="0"/>
              <a:t> Ventaja potencial con mayor volumen de datos</a:t>
            </a:r>
          </a:p>
          <a:p>
            <a:r>
              <a:rPr lang="es-ES" sz="2000" b="1" dirty="0"/>
              <a:t>Conclusión</a:t>
            </a:r>
          </a:p>
          <a:p>
            <a:pPr algn="just"/>
            <a:r>
              <a:rPr lang="es-ES" sz="2000" dirty="0"/>
              <a:t>En este escenario, la aproximación conexionista parece viable, pero los métodos clásicos siguen siendo más eficientes y estables.</a:t>
            </a:r>
          </a:p>
        </p:txBody>
      </p:sp>
    </p:spTree>
    <p:extLst>
      <p:ext uri="{BB962C8B-B14F-4D97-AF65-F5344CB8AC3E}">
        <p14:creationId xmlns:p14="http://schemas.microsoft.com/office/powerpoint/2010/main" val="3866066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E9BFB-3D96-88E1-E278-95F67DE0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 finales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B8398-BF20-668A-7FB0-D9188EFC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2548064"/>
          </a:xfrm>
        </p:spPr>
        <p:txBody>
          <a:bodyPr>
            <a:noAutofit/>
          </a:bodyPr>
          <a:lstStyle/>
          <a:p>
            <a:pPr algn="just"/>
            <a:r>
              <a:rPr lang="es-ES" sz="2000" dirty="0"/>
              <a:t>Se ha desarrollado un sistema de recomendación de revistas científicas a partir del contenido textual de los artículos.</a:t>
            </a:r>
          </a:p>
          <a:p>
            <a:pPr algn="just"/>
            <a:r>
              <a:rPr lang="es-ES" sz="2000" dirty="0"/>
              <a:t>Se han comparado dos </a:t>
            </a:r>
            <a:r>
              <a:rPr lang="es-ES" sz="2000" dirty="0" err="1"/>
              <a:t>enfoques:aproximación</a:t>
            </a:r>
            <a:r>
              <a:rPr lang="es-ES" sz="2000" dirty="0"/>
              <a:t> clásica (TF-IDF + clasificadores) y aproximación conexionista (</a:t>
            </a:r>
            <a:r>
              <a:rPr lang="es-ES" sz="2000" dirty="0" err="1"/>
              <a:t>BiLSTM</a:t>
            </a:r>
            <a:r>
              <a:rPr lang="es-ES" sz="2000" dirty="0"/>
              <a:t> + Word2Vec).</a:t>
            </a:r>
          </a:p>
          <a:p>
            <a:pPr algn="just"/>
            <a:r>
              <a:rPr lang="es-ES" sz="2000" dirty="0"/>
              <a:t>Linear SVM + TF-IDF obtiene el mejor rendimiento global (≈ 72% </a:t>
            </a:r>
            <a:r>
              <a:rPr lang="es-ES" sz="2000" dirty="0" err="1"/>
              <a:t>accuracy</a:t>
            </a:r>
            <a:r>
              <a:rPr lang="es-ES" sz="2000" dirty="0"/>
              <a:t>), mostrando gran estabilidad y bajo coste computacional.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A4AA8D-2E8F-47EE-5EB4-8ABDB5078844}"/>
              </a:ext>
            </a:extLst>
          </p:cNvPr>
          <p:cNvSpPr txBox="1"/>
          <p:nvPr/>
        </p:nvSpPr>
        <p:spPr>
          <a:xfrm>
            <a:off x="1141411" y="4645152"/>
            <a:ext cx="990599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La aproximación conexionista parece viable (≈ 71%), pero presenta mayor complejidad y tendencia al sobreajuste con el tamaño de datos disponible.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Los errores se concentran en revistas con dominios temáticos cercanos, lo cual es coherente semánticamente.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En conjuntos de datos moderados, los métodos clásicos siguen siendo la opción más eficiente; los modelos neuronales resultan prometedores en escenarios con mayor volumen y diversidad de datos.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043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EA5D7-7C51-71E1-A4BB-C247D5B0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0BF048-33E7-646F-388F-1E84847F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Fuente del </a:t>
            </a:r>
            <a:r>
              <a:rPr lang="es-ES" dirty="0" err="1"/>
              <a:t>dataset</a:t>
            </a:r>
            <a:endParaRPr lang="es-ES" dirty="0"/>
          </a:p>
          <a:p>
            <a:pPr lvl="1"/>
            <a:r>
              <a:rPr lang="es-ES" dirty="0" err="1">
                <a:hlinkClick r:id="rId2"/>
              </a:rPr>
              <a:t>SinceDirect</a:t>
            </a:r>
            <a:endParaRPr lang="es-ES" dirty="0"/>
          </a:p>
          <a:p>
            <a:r>
              <a:rPr lang="es-ES" dirty="0"/>
              <a:t>Documentación</a:t>
            </a:r>
          </a:p>
          <a:p>
            <a:pPr lvl="1"/>
            <a:r>
              <a:rPr lang="es-ES" dirty="0" err="1">
                <a:hlinkClick r:id="rId3"/>
              </a:rPr>
              <a:t>Logistic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Regression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Linear SVC</a:t>
            </a:r>
            <a:endParaRPr lang="es-ES" dirty="0"/>
          </a:p>
          <a:p>
            <a:pPr lvl="1"/>
            <a:r>
              <a:rPr lang="es-ES" dirty="0" err="1">
                <a:hlinkClick r:id="rId5"/>
              </a:rPr>
              <a:t>Random</a:t>
            </a:r>
            <a:r>
              <a:rPr lang="es-ES" dirty="0">
                <a:hlinkClick r:id="rId5"/>
              </a:rPr>
              <a:t> Forest</a:t>
            </a:r>
            <a:endParaRPr lang="es-ES" dirty="0"/>
          </a:p>
          <a:p>
            <a:pPr lvl="1"/>
            <a:r>
              <a:rPr lang="es-ES" dirty="0"/>
              <a:t>Apuntes del campus virtual de la ULPGC – Asignatura Ciencia de datos en Ingeniería</a:t>
            </a:r>
          </a:p>
        </p:txBody>
      </p:sp>
    </p:spTree>
    <p:extLst>
      <p:ext uri="{BB962C8B-B14F-4D97-AF65-F5344CB8AC3E}">
        <p14:creationId xmlns:p14="http://schemas.microsoft.com/office/powerpoint/2010/main" val="175886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640</TotalTime>
  <Words>1199</Words>
  <Application>Microsoft Office PowerPoint</Application>
  <PresentationFormat>Panorámica</PresentationFormat>
  <Paragraphs>250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Cambria Math</vt:lpstr>
      <vt:lpstr>Tw Cen MT</vt:lpstr>
      <vt:lpstr>Wingdings</vt:lpstr>
      <vt:lpstr>Circuito</vt:lpstr>
      <vt:lpstr>Sistema recomendador de revistas científicas</vt:lpstr>
      <vt:lpstr>motivación</vt:lpstr>
      <vt:lpstr>Objetivo del Trabajo</vt:lpstr>
      <vt:lpstr>Enfoques Planteados</vt:lpstr>
      <vt:lpstr>Conjunto de Datos</vt:lpstr>
      <vt:lpstr>Filtrado del Dataset</vt:lpstr>
      <vt:lpstr>Preprocesamiento del Texto</vt:lpstr>
      <vt:lpstr>Aproximación clásica</vt:lpstr>
      <vt:lpstr>Aproximación Clásica: Representación</vt:lpstr>
      <vt:lpstr>Aproximación Clásica: Modelos</vt:lpstr>
      <vt:lpstr>Aproximación Clásica: Modelos (configuración)</vt:lpstr>
      <vt:lpstr>Aproximación Clásica: Resultados Validación Cruzada</vt:lpstr>
      <vt:lpstr>Aproximación Clásica: Resultados (Test)</vt:lpstr>
      <vt:lpstr>Aproximación Clásica: decisión</vt:lpstr>
      <vt:lpstr>Aproximación Clásica : Matrices de Confusión (SVM)</vt:lpstr>
      <vt:lpstr>Aproximación Clásica: Conclusiones</vt:lpstr>
      <vt:lpstr>Aproximación conexionista</vt:lpstr>
      <vt:lpstr>Aproximación conexionista: Representación</vt:lpstr>
      <vt:lpstr>Aproximación conexionista: arquitectura (bilstm)</vt:lpstr>
      <vt:lpstr>Aproximación conexionista: configuración de la red</vt:lpstr>
      <vt:lpstr>Aproximación conexionista: evolución del entrenamiento</vt:lpstr>
      <vt:lpstr>Aproximación conexionista: Resultados evaluación final</vt:lpstr>
      <vt:lpstr>Aproximación conexionista: matriz de confusión</vt:lpstr>
      <vt:lpstr>Aproximación conexionista: Conclusiones</vt:lpstr>
      <vt:lpstr>Conclusiones finales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Santana Martínez</dc:creator>
  <cp:lastModifiedBy>Santiago Santana Martínez</cp:lastModifiedBy>
  <cp:revision>67</cp:revision>
  <dcterms:created xsi:type="dcterms:W3CDTF">2026-01-05T23:26:27Z</dcterms:created>
  <dcterms:modified xsi:type="dcterms:W3CDTF">2026-01-06T22:45:45Z</dcterms:modified>
</cp:coreProperties>
</file>